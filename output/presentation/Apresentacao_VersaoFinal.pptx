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Bold" charset="1" panose="020B0704020202020204"/>
      <p:regular r:id="rId18"/>
    </p:embeddedFont>
    <p:embeddedFont>
      <p:font typeface="HK Grotesk Bold" charset="1" panose="00000800000000000000"/>
      <p:regular r:id="rId19"/>
    </p:embeddedFont>
    <p:embeddedFont>
      <p:font typeface="HK Grotesk" charset="1" panose="00000500000000000000"/>
      <p:regular r:id="rId20"/>
    </p:embeddedFont>
    <p:embeddedFont>
      <p:font typeface="Cerebri Bold" charset="1" panose="00000800000000000000"/>
      <p:regular r:id="rId21"/>
    </p:embeddedFont>
    <p:embeddedFont>
      <p:font typeface="Cerebri" charset="1" panose="00000500000000000000"/>
      <p:regular r:id="rId22"/>
    </p:embeddedFont>
    <p:embeddedFont>
      <p:font typeface="Arial" charset="1" panose="020B0604020202020204"/>
      <p:regular r:id="rId23"/>
    </p:embeddedFont>
    <p:embeddedFont>
      <p:font typeface="Muli Bold" charset="1" panose="00000800000000000000"/>
      <p:regular r:id="rId24"/>
    </p:embeddedFont>
    <p:embeddedFont>
      <p:font typeface="Muli Semi-Bold" charset="1" panose="00000700000000000000"/>
      <p:regular r:id="rId25"/>
    </p:embeddedFont>
    <p:embeddedFont>
      <p:font typeface="Roboto Bold" charset="1" panose="02000000000000000000"/>
      <p:regular r:id="rId26"/>
    </p:embeddedFont>
    <p:embeddedFont>
      <p:font typeface="Roboto" charset="1" panose="02000000000000000000"/>
      <p:regular r:id="rId2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png" Type="http://schemas.openxmlformats.org/officeDocument/2006/relationships/image"/><Relationship Id="rId12" Target="../media/image31.png" Type="http://schemas.openxmlformats.org/officeDocument/2006/relationships/image"/><Relationship Id="rId13" Target="../media/image32.png" Type="http://schemas.openxmlformats.org/officeDocument/2006/relationships/image"/><Relationship Id="rId14" Target="../media/image33.png" Type="http://schemas.openxmlformats.org/officeDocument/2006/relationships/image"/><Relationship Id="rId15" Target="../media/image34.png" Type="http://schemas.openxmlformats.org/officeDocument/2006/relationships/image"/><Relationship Id="rId16" Target="../media/image35.png" Type="http://schemas.openxmlformats.org/officeDocument/2006/relationships/image"/><Relationship Id="rId17" Target="../media/image36.png" Type="http://schemas.openxmlformats.org/officeDocument/2006/relationships/image"/><Relationship Id="rId18" Target="../media/image37.png" Type="http://schemas.openxmlformats.org/officeDocument/2006/relationships/image"/><Relationship Id="rId19" Target="../media/image38.png" Type="http://schemas.openxmlformats.org/officeDocument/2006/relationships/image"/><Relationship Id="rId2" Target="../media/image21.png" Type="http://schemas.openxmlformats.org/officeDocument/2006/relationships/image"/><Relationship Id="rId20" Target="../media/image39.png" Type="http://schemas.openxmlformats.org/officeDocument/2006/relationships/image"/><Relationship Id="rId21" Target="../media/image40.png" Type="http://schemas.openxmlformats.org/officeDocument/2006/relationships/imag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png" Type="http://schemas.openxmlformats.org/officeDocument/2006/relationships/image"/><Relationship Id="rId6" Target="../media/image25.png" Type="http://schemas.openxmlformats.org/officeDocument/2006/relationships/image"/><Relationship Id="rId7" Target="../media/image26.png" Type="http://schemas.openxmlformats.org/officeDocument/2006/relationships/image"/><Relationship Id="rId8" Target="../media/image27.pn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1.png" Type="http://schemas.openxmlformats.org/officeDocument/2006/relationships/image"/><Relationship Id="rId3" Target="../media/image42.png" Type="http://schemas.openxmlformats.org/officeDocument/2006/relationships/image"/><Relationship Id="rId4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53.png" Type="http://schemas.openxmlformats.org/officeDocument/2006/relationships/image"/><Relationship Id="rId2" Target="../media/image44.png" Type="http://schemas.openxmlformats.org/officeDocument/2006/relationships/image"/><Relationship Id="rId3" Target="../media/image45.png" Type="http://schemas.openxmlformats.org/officeDocument/2006/relationships/image"/><Relationship Id="rId4" Target="../media/image46.png" Type="http://schemas.openxmlformats.org/officeDocument/2006/relationships/image"/><Relationship Id="rId5" Target="../media/image47.png" Type="http://schemas.openxmlformats.org/officeDocument/2006/relationships/image"/><Relationship Id="rId6" Target="../media/image48.png" Type="http://schemas.openxmlformats.org/officeDocument/2006/relationships/image"/><Relationship Id="rId7" Target="../media/image49.png" Type="http://schemas.openxmlformats.org/officeDocument/2006/relationships/image"/><Relationship Id="rId8" Target="../media/image50.pn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55.jpeg" Type="http://schemas.openxmlformats.org/officeDocument/2006/relationships/image"/><Relationship Id="rId4" Target="../media/VAHV2SrWTrE.mp4" Type="http://schemas.openxmlformats.org/officeDocument/2006/relationships/video"/><Relationship Id="rId5" Target="../media/VAHV2SrWTrE.mp4" Type="http://schemas.microsoft.com/office/2007/relationships/media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6.png" Type="http://schemas.openxmlformats.org/officeDocument/2006/relationships/image"/><Relationship Id="rId3" Target="../media/image57.pn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png" Type="http://schemas.openxmlformats.org/officeDocument/2006/relationships/image"/><Relationship Id="rId7" Target="../media/image61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4.png" Type="http://schemas.openxmlformats.org/officeDocument/2006/relationships/image"/><Relationship Id="rId3" Target="../media/image6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-677611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t="0" r="-223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582171" y="43268"/>
            <a:ext cx="4146697" cy="1970864"/>
          </a:xfrm>
          <a:custGeom>
            <a:avLst/>
            <a:gdLst/>
            <a:ahLst/>
            <a:cxnLst/>
            <a:rect r="r" b="b" t="t" l="l"/>
            <a:pathLst>
              <a:path h="1970864" w="4146697">
                <a:moveTo>
                  <a:pt x="0" y="0"/>
                </a:moveTo>
                <a:lnTo>
                  <a:pt x="4146697" y="0"/>
                </a:lnTo>
                <a:lnTo>
                  <a:pt x="4146697" y="1970864"/>
                </a:lnTo>
                <a:lnTo>
                  <a:pt x="0" y="197086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97941" y="467355"/>
            <a:ext cx="13084230" cy="2731333"/>
          </a:xfrm>
          <a:custGeom>
            <a:avLst/>
            <a:gdLst/>
            <a:ahLst/>
            <a:cxnLst/>
            <a:rect r="r" b="b" t="t" l="l"/>
            <a:pathLst>
              <a:path h="2731333" w="13084230">
                <a:moveTo>
                  <a:pt x="0" y="0"/>
                </a:moveTo>
                <a:lnTo>
                  <a:pt x="13084230" y="0"/>
                </a:lnTo>
                <a:lnTo>
                  <a:pt x="13084230" y="2731333"/>
                </a:lnTo>
                <a:lnTo>
                  <a:pt x="0" y="27313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906359" y="9258300"/>
            <a:ext cx="2761377" cy="702179"/>
          </a:xfrm>
          <a:custGeom>
            <a:avLst/>
            <a:gdLst/>
            <a:ahLst/>
            <a:cxnLst/>
            <a:rect r="r" b="b" t="t" l="l"/>
            <a:pathLst>
              <a:path h="702179" w="2761377">
                <a:moveTo>
                  <a:pt x="0" y="0"/>
                </a:moveTo>
                <a:lnTo>
                  <a:pt x="2761377" y="0"/>
                </a:lnTo>
                <a:lnTo>
                  <a:pt x="2761377" y="702179"/>
                </a:lnTo>
                <a:lnTo>
                  <a:pt x="0" y="7021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4154437" y="1909357"/>
            <a:ext cx="3439914" cy="869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Tecnologia da Informação</a:t>
            </a:r>
          </a:p>
          <a:p>
            <a:pPr algn="ctr">
              <a:lnSpc>
                <a:spcPts val="351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Ciências da Computação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7941" y="5997863"/>
            <a:ext cx="6877659" cy="3712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80"/>
              </a:lnSpc>
            </a:pP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Arthur Gabriel Martins da Costa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Francisco de Assis Cavallaro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Gabriel Saldanha Daher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Kayke Vinicius Dias Moreira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Rafael Oliveira Cotrin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  <a:r>
              <a:rPr lang="en-US" b="true" sz="23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Thais Novaes Rodrigues de Lima</a:t>
            </a:r>
          </a:p>
          <a:p>
            <a:pPr algn="l">
              <a:lnSpc>
                <a:spcPts val="36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483308" y="3657518"/>
            <a:ext cx="10174159" cy="4012434"/>
          </a:xfrm>
          <a:custGeom>
            <a:avLst/>
            <a:gdLst/>
            <a:ahLst/>
            <a:cxnLst/>
            <a:rect r="r" b="b" t="t" l="l"/>
            <a:pathLst>
              <a:path h="4012434" w="10174159">
                <a:moveTo>
                  <a:pt x="0" y="0"/>
                </a:moveTo>
                <a:lnTo>
                  <a:pt x="10174159" y="0"/>
                </a:lnTo>
                <a:lnTo>
                  <a:pt x="10174159" y="4012434"/>
                </a:lnTo>
                <a:lnTo>
                  <a:pt x="0" y="40124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08635"/>
            <a:ext cx="8758749" cy="36401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39"/>
              </a:lnSpc>
            </a:pPr>
            <a:r>
              <a:rPr lang="en-US" sz="9439" spc="-18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Reconhecimento e tradução de </a:t>
            </a:r>
          </a:p>
          <a:p>
            <a:pPr algn="l">
              <a:lnSpc>
                <a:spcPts val="9439"/>
              </a:lnSpc>
            </a:pPr>
            <a:r>
              <a:rPr lang="en-US" sz="9439" spc="-188" b="true">
                <a:solidFill>
                  <a:srgbClr val="12E8F6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Libras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462272" y="7908357"/>
            <a:ext cx="9199300" cy="1225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Visão computacional e </a:t>
            </a:r>
            <a:r>
              <a:rPr lang="en-US" sz="3500">
                <a:solidFill>
                  <a:srgbClr val="12E8F6"/>
                </a:solidFill>
                <a:latin typeface="HK Grotesk"/>
                <a:ea typeface="HK Grotesk"/>
                <a:cs typeface="HK Grotesk"/>
                <a:sym typeface="HK Grotesk"/>
              </a:rPr>
              <a:t>aprendizado de máquina</a:t>
            </a:r>
            <a:r>
              <a:rPr lang="en-US" sz="35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 para apoiar uma </a:t>
            </a:r>
            <a:r>
              <a:rPr lang="en-US" sz="3500">
                <a:solidFill>
                  <a:srgbClr val="12E8F6"/>
                </a:solidFill>
                <a:latin typeface="HK Grotesk"/>
                <a:ea typeface="HK Grotesk"/>
                <a:cs typeface="HK Grotesk"/>
                <a:sym typeface="HK Grotesk"/>
              </a:rPr>
              <a:t>comunicação mais acessível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0458450" cy="10287000"/>
          </a:xfrm>
          <a:custGeom>
            <a:avLst/>
            <a:gdLst/>
            <a:ahLst/>
            <a:cxnLst/>
            <a:rect r="r" b="b" t="t" l="l"/>
            <a:pathLst>
              <a:path h="10287000" w="10458450">
                <a:moveTo>
                  <a:pt x="0" y="0"/>
                </a:moveTo>
                <a:lnTo>
                  <a:pt x="10458450" y="0"/>
                </a:lnTo>
                <a:lnTo>
                  <a:pt x="1045845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962775" y="638175"/>
            <a:ext cx="11325225" cy="9648825"/>
          </a:xfrm>
          <a:custGeom>
            <a:avLst/>
            <a:gdLst/>
            <a:ahLst/>
            <a:cxnLst/>
            <a:rect r="r" b="b" t="t" l="l"/>
            <a:pathLst>
              <a:path h="9648825" w="11325225">
                <a:moveTo>
                  <a:pt x="0" y="0"/>
                </a:moveTo>
                <a:lnTo>
                  <a:pt x="11325225" y="0"/>
                </a:lnTo>
                <a:lnTo>
                  <a:pt x="11325225" y="9648825"/>
                </a:lnTo>
                <a:lnTo>
                  <a:pt x="0" y="96488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786384" y="1023185"/>
            <a:ext cx="5266944" cy="1974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7619" b="true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Contexto</a:t>
            </a:r>
          </a:p>
          <a:p>
            <a:pPr algn="l">
              <a:lnSpc>
                <a:spcPts val="7619"/>
              </a:lnSpc>
            </a:pPr>
            <a:r>
              <a:rPr lang="en-US" sz="7619" b="true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e Problema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13716000" y="2352675"/>
            <a:ext cx="2619375" cy="3009900"/>
          </a:xfrm>
          <a:custGeom>
            <a:avLst/>
            <a:gdLst/>
            <a:ahLst/>
            <a:cxnLst/>
            <a:rect r="r" b="b" t="t" l="l"/>
            <a:pathLst>
              <a:path h="3009900" w="2619375">
                <a:moveTo>
                  <a:pt x="0" y="0"/>
                </a:moveTo>
                <a:lnTo>
                  <a:pt x="2619375" y="0"/>
                </a:lnTo>
                <a:lnTo>
                  <a:pt x="2619375" y="3009900"/>
                </a:lnTo>
                <a:lnTo>
                  <a:pt x="0" y="300990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68000" y="5353050"/>
            <a:ext cx="2619375" cy="1724025"/>
          </a:xfrm>
          <a:custGeom>
            <a:avLst/>
            <a:gdLst/>
            <a:ahLst/>
            <a:cxnLst/>
            <a:rect r="r" b="b" t="t" l="l"/>
            <a:pathLst>
              <a:path h="1724025" w="2619375">
                <a:moveTo>
                  <a:pt x="0" y="0"/>
                </a:moveTo>
                <a:lnTo>
                  <a:pt x="2619375" y="0"/>
                </a:lnTo>
                <a:lnTo>
                  <a:pt x="2619375" y="1724025"/>
                </a:lnTo>
                <a:lnTo>
                  <a:pt x="0" y="17240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86384" y="3796856"/>
            <a:ext cx="6656832" cy="427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77"/>
              </a:lnSpc>
            </a:pPr>
            <a:r>
              <a:rPr lang="en-US" sz="281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A comunicação em Libras ainda enfrenta barreiras de autonomia.</a:t>
            </a:r>
          </a:p>
          <a:p>
            <a:pPr algn="l">
              <a:lnSpc>
                <a:spcPts val="3377"/>
              </a:lnSpc>
            </a:pPr>
          </a:p>
          <a:p>
            <a:pPr algn="l">
              <a:lnSpc>
                <a:spcPts val="3377"/>
              </a:lnSpc>
            </a:pPr>
            <a:r>
              <a:rPr lang="en-US" sz="281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Nosso objetivo é criar uma interface que </a:t>
            </a:r>
            <a:r>
              <a:rPr lang="en-US" sz="2814">
                <a:solidFill>
                  <a:srgbClr val="00C4CC"/>
                </a:solidFill>
                <a:latin typeface="Cerebri"/>
                <a:ea typeface="Cerebri"/>
                <a:cs typeface="Cerebri"/>
                <a:sym typeface="Cerebri"/>
              </a:rPr>
              <a:t>capture sinais</a:t>
            </a:r>
            <a:r>
              <a:rPr lang="en-US" sz="281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, identifique letras ou sinais e </a:t>
            </a:r>
            <a:r>
              <a:rPr lang="en-US" sz="2814">
                <a:solidFill>
                  <a:srgbClr val="00C4CC"/>
                </a:solidFill>
                <a:latin typeface="Cerebri"/>
                <a:ea typeface="Cerebri"/>
                <a:cs typeface="Cerebri"/>
                <a:sym typeface="Cerebri"/>
              </a:rPr>
              <a:t>permita no futuro, a tradução.</a:t>
            </a:r>
          </a:p>
          <a:p>
            <a:pPr algn="l">
              <a:lnSpc>
                <a:spcPts val="3377"/>
              </a:lnSpc>
            </a:pPr>
          </a:p>
          <a:p>
            <a:pPr algn="l">
              <a:lnSpc>
                <a:spcPts val="3377"/>
              </a:lnSpc>
            </a:pPr>
            <a:r>
              <a:rPr lang="en-US" sz="281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O protótipo ainda </a:t>
            </a:r>
            <a:r>
              <a:rPr lang="en-US" sz="2814">
                <a:solidFill>
                  <a:srgbClr val="00C4CC"/>
                </a:solidFill>
                <a:latin typeface="Cerebri"/>
                <a:ea typeface="Cerebri"/>
                <a:cs typeface="Cerebri"/>
                <a:sym typeface="Cerebri"/>
              </a:rPr>
              <a:t>não traduz</a:t>
            </a:r>
            <a:r>
              <a:rPr lang="en-US" sz="2814">
                <a:solidFill>
                  <a:srgbClr val="FFFFFF"/>
                </a:solidFill>
                <a:latin typeface="Cerebri"/>
                <a:ea typeface="Cerebri"/>
                <a:cs typeface="Cerebri"/>
                <a:sym typeface="Cerebri"/>
              </a:rPr>
              <a:t> Libras completa. Valida vocabulário controlado com foco nos sinais manuais a princípio.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8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7945" y="1431238"/>
            <a:ext cx="8503744" cy="8167982"/>
          </a:xfrm>
          <a:custGeom>
            <a:avLst/>
            <a:gdLst/>
            <a:ahLst/>
            <a:cxnLst/>
            <a:rect r="r" b="b" t="t" l="l"/>
            <a:pathLst>
              <a:path h="8167982" w="8503744">
                <a:moveTo>
                  <a:pt x="0" y="0"/>
                </a:moveTo>
                <a:lnTo>
                  <a:pt x="8503744" y="0"/>
                </a:lnTo>
                <a:lnTo>
                  <a:pt x="8503744" y="8167982"/>
                </a:lnTo>
                <a:lnTo>
                  <a:pt x="0" y="8167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058" r="-102842" b="-3243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313962" y="4559433"/>
            <a:ext cx="7300183" cy="2271802"/>
          </a:xfrm>
          <a:custGeom>
            <a:avLst/>
            <a:gdLst/>
            <a:ahLst/>
            <a:cxnLst/>
            <a:rect r="r" b="b" t="t" l="l"/>
            <a:pathLst>
              <a:path h="2271802" w="7300183">
                <a:moveTo>
                  <a:pt x="0" y="0"/>
                </a:moveTo>
                <a:lnTo>
                  <a:pt x="7300183" y="0"/>
                </a:lnTo>
                <a:lnTo>
                  <a:pt x="7300183" y="2271802"/>
                </a:lnTo>
                <a:lnTo>
                  <a:pt x="0" y="2271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85652" y="4928237"/>
            <a:ext cx="5113842" cy="1638857"/>
          </a:xfrm>
          <a:custGeom>
            <a:avLst/>
            <a:gdLst/>
            <a:ahLst/>
            <a:cxnLst/>
            <a:rect r="r" b="b" t="t" l="l"/>
            <a:pathLst>
              <a:path h="1638857" w="5113842">
                <a:moveTo>
                  <a:pt x="0" y="0"/>
                </a:moveTo>
                <a:lnTo>
                  <a:pt x="5113842" y="0"/>
                </a:lnTo>
                <a:lnTo>
                  <a:pt x="5113842" y="1638858"/>
                </a:lnTo>
                <a:lnTo>
                  <a:pt x="0" y="16388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55030" y="564463"/>
            <a:ext cx="1614653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Traduzindo a Anatomia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9313962" y="1814604"/>
            <a:ext cx="7300183" cy="2271802"/>
          </a:xfrm>
          <a:custGeom>
            <a:avLst/>
            <a:gdLst/>
            <a:ahLst/>
            <a:cxnLst/>
            <a:rect r="r" b="b" t="t" l="l"/>
            <a:pathLst>
              <a:path h="2271802" w="7300183">
                <a:moveTo>
                  <a:pt x="0" y="0"/>
                </a:moveTo>
                <a:lnTo>
                  <a:pt x="7300183" y="0"/>
                </a:lnTo>
                <a:lnTo>
                  <a:pt x="7300183" y="2271801"/>
                </a:lnTo>
                <a:lnTo>
                  <a:pt x="0" y="22718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585652" y="2395808"/>
            <a:ext cx="6843642" cy="1325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2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Cada</a:t>
            </a:r>
            <a:r>
              <a:rPr lang="en-US" sz="222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frame capturado pela câmera é convertido instantaneamente em uma matriz de coordenadas tridimensionais geométricas.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9313962" y="7184094"/>
            <a:ext cx="7300183" cy="2271802"/>
          </a:xfrm>
          <a:custGeom>
            <a:avLst/>
            <a:gdLst/>
            <a:ahLst/>
            <a:cxnLst/>
            <a:rect r="r" b="b" t="t" l="l"/>
            <a:pathLst>
              <a:path h="2271802" w="7300183">
                <a:moveTo>
                  <a:pt x="0" y="0"/>
                </a:moveTo>
                <a:lnTo>
                  <a:pt x="7300183" y="0"/>
                </a:lnTo>
                <a:lnTo>
                  <a:pt x="7300183" y="2271802"/>
                </a:lnTo>
                <a:lnTo>
                  <a:pt x="0" y="22718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9693191" y="8002991"/>
            <a:ext cx="6345436" cy="894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389"/>
              </a:lnSpc>
              <a:spcBef>
                <a:spcPct val="0"/>
              </a:spcBef>
            </a:pPr>
            <a:r>
              <a:rPr lang="en-US" b="true" sz="2172" spc="-65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21 pontos-chave rastreados × 3 eixos espaciais</a:t>
            </a:r>
          </a:p>
          <a:p>
            <a:pPr algn="just">
              <a:lnSpc>
                <a:spcPts val="2389"/>
              </a:lnSpc>
              <a:spcBef>
                <a:spcPct val="0"/>
              </a:spcBef>
            </a:pPr>
            <a:r>
              <a:rPr lang="en-US" b="true" sz="2172" spc="-65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= Um vetor estruturado de 63 dimensões por frame,</a:t>
            </a:r>
          </a:p>
          <a:p>
            <a:pPr algn="just">
              <a:lnSpc>
                <a:spcPts val="2389"/>
              </a:lnSpc>
              <a:spcBef>
                <a:spcPct val="0"/>
              </a:spcBef>
            </a:pPr>
            <a:r>
              <a:rPr lang="en-US" b="true" sz="2172" spc="-65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imune a variações de textura ou iluminação superficial.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93191" y="7418452"/>
            <a:ext cx="290073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  <a:spcBef>
                <a:spcPct val="0"/>
              </a:spcBef>
            </a:pPr>
            <a:r>
              <a:rPr lang="en-US" b="true" sz="2300" spc="-6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Dimensionalidade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585652" y="1933927"/>
            <a:ext cx="2900731" cy="334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0"/>
              </a:lnSpc>
              <a:spcBef>
                <a:spcPct val="0"/>
              </a:spcBef>
            </a:pPr>
            <a:r>
              <a:rPr lang="en-US" b="true" sz="2300" spc="-6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 Transformação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573911" y="2977231"/>
            <a:ext cx="7300183" cy="2271802"/>
          </a:xfrm>
          <a:custGeom>
            <a:avLst/>
            <a:gdLst/>
            <a:ahLst/>
            <a:cxnLst/>
            <a:rect r="r" b="b" t="t" l="l"/>
            <a:pathLst>
              <a:path h="2271802" w="7300183">
                <a:moveTo>
                  <a:pt x="0" y="0"/>
                </a:moveTo>
                <a:lnTo>
                  <a:pt x="7300183" y="0"/>
                </a:lnTo>
                <a:lnTo>
                  <a:pt x="7300183" y="2271802"/>
                </a:lnTo>
                <a:lnTo>
                  <a:pt x="0" y="227180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046444" y="4113132"/>
            <a:ext cx="6355115" cy="801722"/>
          </a:xfrm>
          <a:custGeom>
            <a:avLst/>
            <a:gdLst/>
            <a:ahLst/>
            <a:cxnLst/>
            <a:rect r="r" b="b" t="t" l="l"/>
            <a:pathLst>
              <a:path h="801722" w="6355115">
                <a:moveTo>
                  <a:pt x="0" y="0"/>
                </a:moveTo>
                <a:lnTo>
                  <a:pt x="6355116" y="0"/>
                </a:lnTo>
                <a:lnTo>
                  <a:pt x="6355116" y="801722"/>
                </a:lnTo>
                <a:lnTo>
                  <a:pt x="0" y="80172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573911" y="3158381"/>
            <a:ext cx="4372685" cy="731197"/>
          </a:xfrm>
          <a:custGeom>
            <a:avLst/>
            <a:gdLst/>
            <a:ahLst/>
            <a:cxnLst/>
            <a:rect r="r" b="b" t="t" l="l"/>
            <a:pathLst>
              <a:path h="731197" w="4372685">
                <a:moveTo>
                  <a:pt x="0" y="0"/>
                </a:moveTo>
                <a:lnTo>
                  <a:pt x="4372685" y="0"/>
                </a:lnTo>
                <a:lnTo>
                  <a:pt x="4372685" y="731197"/>
                </a:lnTo>
                <a:lnTo>
                  <a:pt x="0" y="7311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19567" b="-15069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573911" y="6132134"/>
            <a:ext cx="7300183" cy="2551492"/>
          </a:xfrm>
          <a:custGeom>
            <a:avLst/>
            <a:gdLst/>
            <a:ahLst/>
            <a:cxnLst/>
            <a:rect r="r" b="b" t="t" l="l"/>
            <a:pathLst>
              <a:path h="2551492" w="7300183">
                <a:moveTo>
                  <a:pt x="0" y="0"/>
                </a:moveTo>
                <a:lnTo>
                  <a:pt x="7300183" y="0"/>
                </a:lnTo>
                <a:lnTo>
                  <a:pt x="7300183" y="2551492"/>
                </a:lnTo>
                <a:lnTo>
                  <a:pt x="0" y="255149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2293" t="-3271" r="-12293" b="-7658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73911" y="6269812"/>
            <a:ext cx="3949703" cy="863822"/>
          </a:xfrm>
          <a:custGeom>
            <a:avLst/>
            <a:gdLst/>
            <a:ahLst/>
            <a:cxnLst/>
            <a:rect r="r" b="b" t="t" l="l"/>
            <a:pathLst>
              <a:path h="863822" w="3949703">
                <a:moveTo>
                  <a:pt x="0" y="0"/>
                </a:moveTo>
                <a:lnTo>
                  <a:pt x="3949702" y="0"/>
                </a:lnTo>
                <a:lnTo>
                  <a:pt x="3949702" y="863823"/>
                </a:lnTo>
                <a:lnTo>
                  <a:pt x="0" y="8638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15303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43390" y="1919676"/>
            <a:ext cx="7541615" cy="7513538"/>
          </a:xfrm>
          <a:custGeom>
            <a:avLst/>
            <a:gdLst/>
            <a:ahLst/>
            <a:cxnLst/>
            <a:rect r="r" b="b" t="t" l="l"/>
            <a:pathLst>
              <a:path h="7513538" w="7541615">
                <a:moveTo>
                  <a:pt x="0" y="0"/>
                </a:moveTo>
                <a:lnTo>
                  <a:pt x="7541615" y="0"/>
                </a:lnTo>
                <a:lnTo>
                  <a:pt x="7541615" y="7513537"/>
                </a:lnTo>
                <a:lnTo>
                  <a:pt x="0" y="751353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362" t="0" r="-10041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9802181" y="7038385"/>
            <a:ext cx="6843642" cy="1315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54"/>
              </a:lnSpc>
              <a:spcBef>
                <a:spcPct val="0"/>
              </a:spcBef>
            </a:pPr>
            <a:r>
              <a:rPr lang="en-US" sz="2221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468 pontos-chave rastreados × 3 eixos espaciais = Um vetor estruturado de 1.404 dimensões por frame, imune a variações de textura ou iluminação superficial.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5030" y="564463"/>
            <a:ext cx="16146534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Traduzindo a Anatomia</a:t>
            </a:r>
          </a:p>
        </p:txBody>
      </p:sp>
    </p:spTree>
  </p:cSld>
  <p:clrMapOvr>
    <a:masterClrMapping/>
  </p:clrMapOvr>
  <p:transition spd="slow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12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50639"/>
            <a:ext cx="16146534" cy="2543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00"/>
              </a:lnSpc>
            </a:pPr>
            <a:r>
              <a:rPr lang="en-US" b="true" sz="6000" spc="-179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Pipeline de Reconhecimento de Gestos e Visão Computacional</a:t>
            </a:r>
          </a:p>
          <a:p>
            <a:pPr algn="ctr">
              <a:lnSpc>
                <a:spcPts val="6600"/>
              </a:lnSpc>
            </a:pP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-1513821" y="1362767"/>
            <a:ext cx="21231577" cy="10122031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22960" y="854174"/>
            <a:ext cx="8595360" cy="20822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18"/>
              </a:lnSpc>
            </a:pPr>
            <a:r>
              <a:rPr lang="en-US" sz="7380" spc="-22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Abordagem Técnica</a:t>
            </a:r>
          </a:p>
          <a:p>
            <a:pPr algn="l">
              <a:lnSpc>
                <a:spcPts val="8118"/>
              </a:lnSpc>
            </a:pPr>
            <a:r>
              <a:rPr lang="en-US" sz="7380" spc="-221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Fluxo do Sistema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207818" y="3640352"/>
            <a:ext cx="3062584" cy="3006296"/>
          </a:xfrm>
          <a:custGeom>
            <a:avLst/>
            <a:gdLst/>
            <a:ahLst/>
            <a:cxnLst/>
            <a:rect r="r" b="b" t="t" l="l"/>
            <a:pathLst>
              <a:path h="3006296" w="3062584">
                <a:moveTo>
                  <a:pt x="0" y="0"/>
                </a:moveTo>
                <a:lnTo>
                  <a:pt x="3062584" y="0"/>
                </a:lnTo>
                <a:lnTo>
                  <a:pt x="306258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45330" y="4285339"/>
            <a:ext cx="2187560" cy="1716322"/>
          </a:xfrm>
          <a:custGeom>
            <a:avLst/>
            <a:gdLst/>
            <a:ahLst/>
            <a:cxnLst/>
            <a:rect r="r" b="b" t="t" l="l"/>
            <a:pathLst>
              <a:path h="1716322" w="2187560">
                <a:moveTo>
                  <a:pt x="0" y="0"/>
                </a:moveTo>
                <a:lnTo>
                  <a:pt x="2187560" y="0"/>
                </a:lnTo>
                <a:lnTo>
                  <a:pt x="2187560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85216" y="7209435"/>
            <a:ext cx="2157984" cy="15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captura sequência visual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2821952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259464" y="3640352"/>
            <a:ext cx="3062584" cy="3006296"/>
          </a:xfrm>
          <a:custGeom>
            <a:avLst/>
            <a:gdLst/>
            <a:ahLst/>
            <a:cxnLst/>
            <a:rect r="r" b="b" t="t" l="l"/>
            <a:pathLst>
              <a:path h="3006296" w="3062584">
                <a:moveTo>
                  <a:pt x="0" y="0"/>
                </a:moveTo>
                <a:lnTo>
                  <a:pt x="3062584" y="0"/>
                </a:lnTo>
                <a:lnTo>
                  <a:pt x="3062584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3478220" y="3848060"/>
            <a:ext cx="2625072" cy="2372241"/>
          </a:xfrm>
          <a:custGeom>
            <a:avLst/>
            <a:gdLst/>
            <a:ahLst/>
            <a:cxnLst/>
            <a:rect r="r" b="b" t="t" l="l"/>
            <a:pathLst>
              <a:path h="2372241" w="2625072">
                <a:moveTo>
                  <a:pt x="0" y="0"/>
                </a:moveTo>
                <a:lnTo>
                  <a:pt x="2625072" y="0"/>
                </a:lnTo>
                <a:lnTo>
                  <a:pt x="2625072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566160" y="6804235"/>
            <a:ext cx="1463040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MediaPipe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566160" y="7209435"/>
            <a:ext cx="2487168" cy="20669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8"/>
              </a:lnSpc>
            </a:pPr>
            <a:r>
              <a:rPr lang="en-US" sz="2623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detecta landmarks por mão e pontos faciais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6092354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6529866" y="3640352"/>
            <a:ext cx="3051646" cy="3006296"/>
          </a:xfrm>
          <a:custGeom>
            <a:avLst/>
            <a:gdLst/>
            <a:ahLst/>
            <a:cxnLst/>
            <a:rect r="r" b="b" t="t" l="l"/>
            <a:pathLst>
              <a:path h="3006296" w="3051646">
                <a:moveTo>
                  <a:pt x="0" y="0"/>
                </a:moveTo>
                <a:lnTo>
                  <a:pt x="3051646" y="0"/>
                </a:lnTo>
                <a:lnTo>
                  <a:pt x="3051646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48622" y="4285339"/>
            <a:ext cx="2614134" cy="1716322"/>
          </a:xfrm>
          <a:custGeom>
            <a:avLst/>
            <a:gdLst/>
            <a:ahLst/>
            <a:cxnLst/>
            <a:rect r="r" b="b" t="t" l="l"/>
            <a:pathLst>
              <a:path h="1716322" w="2614134">
                <a:moveTo>
                  <a:pt x="0" y="0"/>
                </a:moveTo>
                <a:lnTo>
                  <a:pt x="2614134" y="0"/>
                </a:lnTo>
                <a:lnTo>
                  <a:pt x="2614134" y="1716322"/>
                </a:lnTo>
                <a:lnTo>
                  <a:pt x="0" y="171632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6656832" y="7209435"/>
            <a:ext cx="2103120" cy="206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centraliza, escala, alinha e suaviza</a:t>
            </a:r>
          </a:p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o movimento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9351818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570574" y="3640352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0186416" y="4654141"/>
            <a:ext cx="1792224" cy="930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74"/>
              </a:lnSpc>
            </a:pPr>
            <a:r>
              <a:rPr lang="en-US" b="true" sz="6522" spc="-195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SVM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57232" y="6804235"/>
            <a:ext cx="1847088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Classificação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7232" y="7209435"/>
            <a:ext cx="2157984" cy="259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algoritmo SVM identifica o sinal</a:t>
            </a:r>
          </a:p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e estima confiança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1965952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403464" y="3640352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622220" y="3848060"/>
            <a:ext cx="2406316" cy="2590881"/>
          </a:xfrm>
          <a:custGeom>
            <a:avLst/>
            <a:gdLst/>
            <a:ahLst/>
            <a:cxnLst/>
            <a:rect r="r" b="b" t="t" l="l"/>
            <a:pathLst>
              <a:path h="2590881" w="2406316">
                <a:moveTo>
                  <a:pt x="0" y="0"/>
                </a:moveTo>
                <a:lnTo>
                  <a:pt x="2406316" y="0"/>
                </a:lnTo>
                <a:lnTo>
                  <a:pt x="2406316" y="2590880"/>
                </a:lnTo>
                <a:lnTo>
                  <a:pt x="0" y="2590880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13039344" y="4198798"/>
            <a:ext cx="1463040" cy="6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0"/>
              </a:lnSpc>
            </a:pPr>
            <a:r>
              <a:rPr lang="en-US" sz="1606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Sinal detectado Olá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12840976" y="4919394"/>
            <a:ext cx="1968804" cy="448211"/>
          </a:xfrm>
          <a:custGeom>
            <a:avLst/>
            <a:gdLst/>
            <a:ahLst/>
            <a:cxnLst/>
            <a:rect r="r" b="b" t="t" l="l"/>
            <a:pathLst>
              <a:path h="448211" w="1968804">
                <a:moveTo>
                  <a:pt x="0" y="0"/>
                </a:moveTo>
                <a:lnTo>
                  <a:pt x="1968804" y="0"/>
                </a:lnTo>
                <a:lnTo>
                  <a:pt x="1968804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12840976" y="5564382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13002768" y="5799581"/>
            <a:ext cx="621792" cy="1946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044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Confirmar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3716000" y="5564382"/>
            <a:ext cx="1093780" cy="655919"/>
          </a:xfrm>
          <a:custGeom>
            <a:avLst/>
            <a:gdLst/>
            <a:ahLst/>
            <a:cxnLst/>
            <a:rect r="r" b="b" t="t" l="l"/>
            <a:pathLst>
              <a:path h="655919" w="1093780">
                <a:moveTo>
                  <a:pt x="0" y="0"/>
                </a:moveTo>
                <a:lnTo>
                  <a:pt x="1093780" y="0"/>
                </a:lnTo>
                <a:lnTo>
                  <a:pt x="1093780" y="655919"/>
                </a:lnTo>
                <a:lnTo>
                  <a:pt x="0" y="655919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4008608" y="5786230"/>
            <a:ext cx="512064" cy="210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74"/>
              </a:lnSpc>
            </a:pPr>
            <a:r>
              <a:rPr lang="en-US" sz="1108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Corrigir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14798842" y="4919394"/>
            <a:ext cx="667206" cy="448211"/>
          </a:xfrm>
          <a:custGeom>
            <a:avLst/>
            <a:gdLst/>
            <a:ahLst/>
            <a:cxnLst/>
            <a:rect r="r" b="b" t="t" l="l"/>
            <a:pathLst>
              <a:path h="448211" w="667206">
                <a:moveTo>
                  <a:pt x="0" y="0"/>
                </a:moveTo>
                <a:lnTo>
                  <a:pt x="667206" y="0"/>
                </a:lnTo>
                <a:lnTo>
                  <a:pt x="667206" y="448212"/>
                </a:lnTo>
                <a:lnTo>
                  <a:pt x="0" y="448212"/>
                </a:lnTo>
                <a:lnTo>
                  <a:pt x="0" y="0"/>
                </a:lnTo>
                <a:close/>
              </a:path>
            </a:pathLst>
          </a:custGeom>
          <a:blipFill>
            <a:blip r:embed="rId19"/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5236354" y="3640352"/>
            <a:ext cx="2843828" cy="3006296"/>
          </a:xfrm>
          <a:custGeom>
            <a:avLst/>
            <a:gdLst/>
            <a:ahLst/>
            <a:cxnLst/>
            <a:rect r="r" b="b" t="t" l="l"/>
            <a:pathLst>
              <a:path h="3006296" w="2843828">
                <a:moveTo>
                  <a:pt x="0" y="0"/>
                </a:moveTo>
                <a:lnTo>
                  <a:pt x="2843828" y="0"/>
                </a:lnTo>
                <a:lnTo>
                  <a:pt x="2843828" y="3006296"/>
                </a:lnTo>
                <a:lnTo>
                  <a:pt x="0" y="3006296"/>
                </a:lnTo>
                <a:lnTo>
                  <a:pt x="0" y="0"/>
                </a:lnTo>
                <a:close/>
              </a:path>
            </a:pathLst>
          </a:custGeom>
          <a:blipFill>
            <a:blip r:embed="rId20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15673866" y="3848060"/>
            <a:ext cx="1750048" cy="2372241"/>
          </a:xfrm>
          <a:custGeom>
            <a:avLst/>
            <a:gdLst/>
            <a:ahLst/>
            <a:cxnLst/>
            <a:rect r="r" b="b" t="t" l="l"/>
            <a:pathLst>
              <a:path h="2372241" w="1750048">
                <a:moveTo>
                  <a:pt x="0" y="0"/>
                </a:moveTo>
                <a:lnTo>
                  <a:pt x="1750048" y="0"/>
                </a:lnTo>
                <a:lnTo>
                  <a:pt x="1750048" y="2372241"/>
                </a:lnTo>
                <a:lnTo>
                  <a:pt x="0" y="2372241"/>
                </a:lnTo>
                <a:lnTo>
                  <a:pt x="0" y="0"/>
                </a:lnTo>
                <a:close/>
              </a:path>
            </a:pathLst>
          </a:custGeom>
          <a:blipFill>
            <a:blip r:embed="rId21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5453360" y="7190506"/>
            <a:ext cx="2414016" cy="1543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salva o sinal validado no banco de dados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85216" y="6804235"/>
            <a:ext cx="1261872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Webcam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6656832" y="6804235"/>
            <a:ext cx="1920240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Normalização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73584" y="6804235"/>
            <a:ext cx="1408176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Front-end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673584" y="7224740"/>
            <a:ext cx="2304288" cy="2067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permite confirmação ou correção</a:t>
            </a:r>
          </a:p>
          <a:p>
            <a:pPr algn="l">
              <a:lnSpc>
                <a:spcPts val="4191"/>
              </a:lnSpc>
            </a:pPr>
            <a:r>
              <a:rPr lang="en-US" sz="2619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do resultado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5453360" y="6804235"/>
            <a:ext cx="1188720" cy="335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3"/>
              </a:lnSpc>
            </a:pPr>
            <a:r>
              <a:rPr lang="en-US" sz="2384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Registro</a:t>
            </a:r>
          </a:p>
        </p:txBody>
      </p:sp>
    </p:spTree>
  </p:cSld>
  <p:clrMapOvr>
    <a:masterClrMapping/>
  </p:clrMapOvr>
  <p:transition spd="slow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886910" y="-785343"/>
            <a:ext cx="20174910" cy="11072343"/>
          </a:xfrm>
          <a:custGeom>
            <a:avLst/>
            <a:gdLst/>
            <a:ahLst/>
            <a:cxnLst/>
            <a:rect r="r" b="b" t="t" l="l"/>
            <a:pathLst>
              <a:path h="11072343" w="20174910">
                <a:moveTo>
                  <a:pt x="0" y="0"/>
                </a:moveTo>
                <a:lnTo>
                  <a:pt x="20174910" y="0"/>
                </a:lnTo>
                <a:lnTo>
                  <a:pt x="20174910" y="11072343"/>
                </a:lnTo>
                <a:lnTo>
                  <a:pt x="0" y="1107234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22087" r="0" b="-122087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6828168" y="2432876"/>
            <a:ext cx="11459832" cy="7854124"/>
          </a:xfrm>
          <a:custGeom>
            <a:avLst/>
            <a:gdLst/>
            <a:ahLst/>
            <a:cxnLst/>
            <a:rect r="r" b="b" t="t" l="l"/>
            <a:pathLst>
              <a:path h="7854124" w="11459832">
                <a:moveTo>
                  <a:pt x="0" y="0"/>
                </a:moveTo>
                <a:lnTo>
                  <a:pt x="11459832" y="0"/>
                </a:lnTo>
                <a:lnTo>
                  <a:pt x="11459832" y="7854124"/>
                </a:lnTo>
                <a:lnTo>
                  <a:pt x="0" y="785412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603" t="0" r="-1603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640080" y="704521"/>
            <a:ext cx="16989552" cy="920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52"/>
              </a:lnSpc>
            </a:pPr>
            <a:r>
              <a:rPr lang="en-US" b="true" sz="6501" spc="-390">
                <a:solidFill>
                  <a:srgbClr val="FFFFFF"/>
                </a:solidFill>
                <a:latin typeface="Muli Bold"/>
                <a:ea typeface="Muli Bold"/>
                <a:cs typeface="Muli Bold"/>
                <a:sym typeface="Muli Bold"/>
              </a:rPr>
              <a:t>Preparação de Dados e Treinamento do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48640" y="2290655"/>
            <a:ext cx="3163824" cy="30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146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Amostras padronizadas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48640" y="2629686"/>
            <a:ext cx="7315200" cy="8351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Vídeos curtos de 30 quadros (1 seg).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Ajuste de posição, tamanho e rotação da mão.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548640" y="4143107"/>
            <a:ext cx="3657600" cy="3137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3"/>
              </a:lnSpc>
            </a:pPr>
            <a:r>
              <a:rPr lang="en-US" sz="2203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Divisão por participante 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48640" y="4571137"/>
            <a:ext cx="2816352" cy="323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85"/>
              </a:lnSpc>
            </a:pPr>
            <a:r>
              <a:rPr lang="en-US" sz="2259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Modelo inicial (SVM)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48640" y="5105733"/>
            <a:ext cx="7315200" cy="125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70% Treino: Aprendizado do sistema.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15% Validação: Ajustes intermediários.</a:t>
            </a:r>
          </a:p>
          <a:p>
            <a:pPr algn="l" marL="512088" indent="-256044" lvl="1">
              <a:lnSpc>
                <a:spcPts val="3320"/>
              </a:lnSpc>
              <a:buFont typeface="Arial"/>
              <a:buChar char="•"/>
            </a:pPr>
            <a:r>
              <a:rPr lang="en-US" b="true" sz="2371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15% Teste: Prova final com dados inéditos.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" y="6915239"/>
            <a:ext cx="2688336" cy="303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1"/>
              </a:lnSpc>
            </a:pPr>
            <a:r>
              <a:rPr lang="en-US" sz="2146" b="true">
                <a:solidFill>
                  <a:srgbClr val="00F6FF"/>
                </a:solidFill>
                <a:latin typeface="Muli Bold"/>
                <a:ea typeface="Muli Bold"/>
                <a:cs typeface="Muli Bold"/>
                <a:sym typeface="Muli Bold"/>
              </a:rPr>
              <a:t>Avaliação planejada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" y="7313979"/>
            <a:ext cx="6242952" cy="11991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3871" indent="-246936" lvl="1">
              <a:lnSpc>
                <a:spcPts val="3202"/>
              </a:lnSpc>
              <a:buFont typeface="Arial"/>
              <a:buChar char="•"/>
            </a:pPr>
            <a:r>
              <a:rPr lang="en-US" b="true" sz="228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Medição de acertos (Acurácia / Precisão).</a:t>
            </a:r>
          </a:p>
          <a:p>
            <a:pPr algn="l" marL="493871" indent="-246936" lvl="1">
              <a:lnSpc>
                <a:spcPts val="3202"/>
              </a:lnSpc>
              <a:buFont typeface="Arial"/>
              <a:buChar char="•"/>
            </a:pPr>
            <a:r>
              <a:rPr lang="en-US" b="true" sz="2287">
                <a:solidFill>
                  <a:srgbClr val="FFFFFF"/>
                </a:solidFill>
                <a:latin typeface="Muli Semi-Bold"/>
                <a:ea typeface="Muli Semi-Bold"/>
                <a:cs typeface="Muli Semi-Bold"/>
                <a:sym typeface="Muli Semi-Bold"/>
              </a:rPr>
              <a:t>Matriz de Confusão: Identifica sinais confundidos.</a:t>
            </a:r>
          </a:p>
        </p:txBody>
      </p:sp>
    </p:spTree>
  </p:cSld>
  <p:clrMapOvr>
    <a:masterClrMapping/>
  </p:clrMapOvr>
  <p:transition spd="slow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8625" y="3209925"/>
            <a:ext cx="1314450" cy="219075"/>
          </a:xfrm>
          <a:custGeom>
            <a:avLst/>
            <a:gdLst/>
            <a:ahLst/>
            <a:cxnLst/>
            <a:rect r="r" b="b" t="t" l="l"/>
            <a:pathLst>
              <a:path h="219075" w="1314450">
                <a:moveTo>
                  <a:pt x="0" y="0"/>
                </a:moveTo>
                <a:lnTo>
                  <a:pt x="1314450" y="0"/>
                </a:lnTo>
                <a:lnTo>
                  <a:pt x="1314450" y="219075"/>
                </a:lnTo>
                <a:lnTo>
                  <a:pt x="0" y="2190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40080" y="855917"/>
            <a:ext cx="9089136" cy="196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12"/>
              </a:lnSpc>
            </a:pPr>
            <a:r>
              <a:rPr lang="en-US" sz="6427" spc="-12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Experiência do Usuário e Rastreabilidade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40080" y="4109085"/>
            <a:ext cx="3474720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86"/>
              </a:lnSpc>
            </a:pPr>
            <a:r>
              <a:rPr lang="en-US" sz="2489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Interação em tempo real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0080" y="4639247"/>
            <a:ext cx="376732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captura ao vivo via webcam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40080" y="5395722"/>
            <a:ext cx="395020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Predisão com transparência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40080" y="5920359"/>
            <a:ext cx="53218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40"/>
              </a:lnSpc>
            </a:pPr>
            <a:r>
              <a:rPr lang="en-US" sz="236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letra/sinal e nível de confiança exibidos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40080" y="6743319"/>
            <a:ext cx="427939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Confirmação antes do registro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40080" y="7267956"/>
            <a:ext cx="3950208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4"/>
              </a:lnSpc>
            </a:pPr>
            <a:r>
              <a:rPr lang="en-US" sz="2336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revise e corrija, se necessário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40080" y="8183499"/>
            <a:ext cx="4315968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50"/>
              </a:lnSpc>
            </a:pPr>
            <a:r>
              <a:rPr lang="en-US" sz="2458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Histórico completo e auditável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40080" y="8712899"/>
            <a:ext cx="6364224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7"/>
              </a:lnSpc>
            </a:pPr>
            <a:r>
              <a:rPr lang="en-US" sz="2397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predição original, correção e versão do modelo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7181850" y="1924050"/>
            <a:ext cx="11106150" cy="8153400"/>
          </a:xfrm>
          <a:custGeom>
            <a:avLst/>
            <a:gdLst/>
            <a:ahLst/>
            <a:cxnLst/>
            <a:rect r="r" b="b" t="t" l="l"/>
            <a:pathLst>
              <a:path h="8153400" w="11106150">
                <a:moveTo>
                  <a:pt x="0" y="0"/>
                </a:moveTo>
                <a:lnTo>
                  <a:pt x="11106150" y="0"/>
                </a:lnTo>
                <a:lnTo>
                  <a:pt x="11106150" y="8153400"/>
                </a:lnTo>
                <a:lnTo>
                  <a:pt x="0" y="81534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401550" y="3429000"/>
            <a:ext cx="2190750" cy="2790825"/>
          </a:xfrm>
          <a:custGeom>
            <a:avLst/>
            <a:gdLst/>
            <a:ahLst/>
            <a:cxnLst/>
            <a:rect r="r" b="b" t="t" l="l"/>
            <a:pathLst>
              <a:path h="2790825" w="2190750">
                <a:moveTo>
                  <a:pt x="0" y="0"/>
                </a:moveTo>
                <a:lnTo>
                  <a:pt x="2190750" y="0"/>
                </a:lnTo>
                <a:lnTo>
                  <a:pt x="2190750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2728448" y="3656267"/>
            <a:ext cx="76809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Precição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167360" y="4106608"/>
            <a:ext cx="749808" cy="120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95"/>
              </a:lnSpc>
            </a:pPr>
            <a:r>
              <a:rPr lang="en-US" sz="7995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D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728448" y="5132070"/>
            <a:ext cx="1481328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Nível de confiança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130784" y="5414201"/>
            <a:ext cx="713232" cy="457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54"/>
              </a:lnSpc>
            </a:pPr>
            <a:r>
              <a:rPr lang="en-US" sz="2962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92%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4363700" y="3429000"/>
            <a:ext cx="2619375" cy="2790825"/>
          </a:xfrm>
          <a:custGeom>
            <a:avLst/>
            <a:gdLst/>
            <a:ahLst/>
            <a:cxnLst/>
            <a:rect r="r" b="b" t="t" l="l"/>
            <a:pathLst>
              <a:path h="2790825" w="2619375">
                <a:moveTo>
                  <a:pt x="0" y="0"/>
                </a:moveTo>
                <a:lnTo>
                  <a:pt x="2619375" y="0"/>
                </a:lnTo>
                <a:lnTo>
                  <a:pt x="2619375" y="2790825"/>
                </a:lnTo>
                <a:lnTo>
                  <a:pt x="0" y="279082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4721840" y="3656267"/>
            <a:ext cx="153619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Estado do modelo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8705850" y="6858000"/>
            <a:ext cx="3276600" cy="1504950"/>
          </a:xfrm>
          <a:custGeom>
            <a:avLst/>
            <a:gdLst/>
            <a:ahLst/>
            <a:cxnLst/>
            <a:rect r="r" b="b" t="t" l="l"/>
            <a:pathLst>
              <a:path h="1504950" w="3276600">
                <a:moveTo>
                  <a:pt x="0" y="0"/>
                </a:moveTo>
                <a:lnTo>
                  <a:pt x="3276600" y="0"/>
                </a:lnTo>
                <a:lnTo>
                  <a:pt x="3276600" y="1504950"/>
                </a:lnTo>
                <a:lnTo>
                  <a:pt x="0" y="150495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9015984" y="7025450"/>
            <a:ext cx="329184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27"/>
              </a:lnSpc>
            </a:pPr>
            <a:r>
              <a:rPr lang="en-US" sz="4023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11972925" y="6858000"/>
            <a:ext cx="1533525" cy="857250"/>
          </a:xfrm>
          <a:custGeom>
            <a:avLst/>
            <a:gdLst/>
            <a:ahLst/>
            <a:cxnLst/>
            <a:rect r="r" b="b" t="t" l="l"/>
            <a:pathLst>
              <a:path h="857250" w="1533525">
                <a:moveTo>
                  <a:pt x="0" y="0"/>
                </a:moveTo>
                <a:lnTo>
                  <a:pt x="1533525" y="0"/>
                </a:lnTo>
                <a:lnTo>
                  <a:pt x="1533525" y="857250"/>
                </a:lnTo>
                <a:lnTo>
                  <a:pt x="0" y="8572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1972925" y="7496175"/>
            <a:ext cx="1533525" cy="866775"/>
          </a:xfrm>
          <a:custGeom>
            <a:avLst/>
            <a:gdLst/>
            <a:ahLst/>
            <a:cxnLst/>
            <a:rect r="r" b="b" t="t" l="l"/>
            <a:pathLst>
              <a:path h="866775" w="1533525">
                <a:moveTo>
                  <a:pt x="0" y="0"/>
                </a:moveTo>
                <a:lnTo>
                  <a:pt x="1533525" y="0"/>
                </a:lnTo>
                <a:lnTo>
                  <a:pt x="1533525" y="866775"/>
                </a:lnTo>
                <a:lnTo>
                  <a:pt x="0" y="86677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3496925" y="6210300"/>
            <a:ext cx="3486150" cy="2362200"/>
          </a:xfrm>
          <a:custGeom>
            <a:avLst/>
            <a:gdLst/>
            <a:ahLst/>
            <a:cxnLst/>
            <a:rect r="r" b="b" t="t" l="l"/>
            <a:pathLst>
              <a:path h="2362200" w="3486150">
                <a:moveTo>
                  <a:pt x="0" y="0"/>
                </a:moveTo>
                <a:lnTo>
                  <a:pt x="3486150" y="0"/>
                </a:lnTo>
                <a:lnTo>
                  <a:pt x="3486150" y="2362200"/>
                </a:lnTo>
                <a:lnTo>
                  <a:pt x="0" y="236220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12252960" y="7164133"/>
            <a:ext cx="841248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2"/>
              </a:lnSpc>
            </a:pPr>
            <a:r>
              <a:rPr lang="en-US" sz="144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Confirmar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869680" y="6766179"/>
            <a:ext cx="84124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63"/>
              </a:lnSpc>
            </a:pPr>
            <a:r>
              <a:rPr lang="en-US" sz="1303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Mensagem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752576" y="7039165"/>
            <a:ext cx="138988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2"/>
              </a:lnSpc>
            </a:pPr>
            <a:r>
              <a:rPr lang="en-US" sz="1218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Predição original: 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752576" y="7333488"/>
            <a:ext cx="100584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sz="1399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Correção: 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752576" y="8150162"/>
            <a:ext cx="256032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86"/>
              </a:lnSpc>
            </a:pPr>
            <a:r>
              <a:rPr lang="en-US" sz="13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Data e hora: </a:t>
            </a:r>
            <a:r>
              <a:rPr lang="en-US" sz="1321" b="true">
                <a:solidFill>
                  <a:srgbClr val="00F7FF"/>
                </a:solidFill>
                <a:latin typeface="Roboto Bold"/>
                <a:ea typeface="Roboto Bold"/>
                <a:cs typeface="Roboto Bold"/>
                <a:sym typeface="Roboto Bold"/>
              </a:rPr>
              <a:t>15/09/2025</a:t>
            </a:r>
            <a:r>
              <a:rPr lang="en-US" sz="132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 10:24:31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17552" y="7822501"/>
            <a:ext cx="694944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Corrigir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752576" y="6505765"/>
            <a:ext cx="1170432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Registro: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96528" y="3183065"/>
            <a:ext cx="1408176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6"/>
              </a:lnSpc>
            </a:pPr>
            <a:r>
              <a:rPr lang="en-US" sz="1471" b="true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Captura ao vivo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8796528" y="3576293"/>
            <a:ext cx="2975673" cy="3025258"/>
          </a:xfrm>
          <a:custGeom>
            <a:avLst/>
            <a:gdLst/>
            <a:ahLst/>
            <a:cxnLst/>
            <a:rect r="r" b="b" t="t" l="l"/>
            <a:pathLst>
              <a:path h="3025258" w="2975673">
                <a:moveTo>
                  <a:pt x="0" y="0"/>
                </a:moveTo>
                <a:lnTo>
                  <a:pt x="2975673" y="0"/>
                </a:lnTo>
                <a:lnTo>
                  <a:pt x="2975673" y="3025258"/>
                </a:lnTo>
                <a:lnTo>
                  <a:pt x="0" y="30252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67233" b="-40143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pic>
        <p:nvPicPr>
          <p:cNvPr name="Picture 3" id="3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1828800" y="1028700"/>
            <a:ext cx="14630400" cy="8229600"/>
          </a:xfrm>
          <a:prstGeom prst="rect">
            <a:avLst/>
          </a:prstGeom>
        </p:spPr>
      </p:pic>
    </p:spTree>
  </p:cSld>
  <p:clrMapOvr>
    <a:masterClrMapping/>
  </p:clrMapOvr>
  <p:transition spd="slow">
    <p:push dir="l"/>
  </p:transition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361330" y="0"/>
            <a:ext cx="3926670" cy="3651284"/>
          </a:xfrm>
          <a:custGeom>
            <a:avLst/>
            <a:gdLst/>
            <a:ahLst/>
            <a:cxnLst/>
            <a:rect r="r" b="b" t="t" l="l"/>
            <a:pathLst>
              <a:path h="3651284" w="3926670">
                <a:moveTo>
                  <a:pt x="0" y="0"/>
                </a:moveTo>
                <a:lnTo>
                  <a:pt x="3926670" y="0"/>
                </a:lnTo>
                <a:lnTo>
                  <a:pt x="3926670" y="3651284"/>
                </a:lnTo>
                <a:lnTo>
                  <a:pt x="0" y="36512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925244" y="2569017"/>
            <a:ext cx="9362756" cy="7717983"/>
          </a:xfrm>
          <a:custGeom>
            <a:avLst/>
            <a:gdLst/>
            <a:ahLst/>
            <a:cxnLst/>
            <a:rect r="r" b="b" t="t" l="l"/>
            <a:pathLst>
              <a:path h="7717983" w="9362756">
                <a:moveTo>
                  <a:pt x="0" y="0"/>
                </a:moveTo>
                <a:lnTo>
                  <a:pt x="9362756" y="0"/>
                </a:lnTo>
                <a:lnTo>
                  <a:pt x="9362756" y="7717983"/>
                </a:lnTo>
                <a:lnTo>
                  <a:pt x="0" y="77179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5455110" y="3848060"/>
            <a:ext cx="2832890" cy="2798589"/>
          </a:xfrm>
          <a:custGeom>
            <a:avLst/>
            <a:gdLst/>
            <a:ahLst/>
            <a:cxnLst/>
            <a:rect r="r" b="b" t="t" l="l"/>
            <a:pathLst>
              <a:path h="2798589" w="2832890">
                <a:moveTo>
                  <a:pt x="0" y="0"/>
                </a:moveTo>
                <a:lnTo>
                  <a:pt x="2832890" y="0"/>
                </a:lnTo>
                <a:lnTo>
                  <a:pt x="2832890" y="2798588"/>
                </a:lnTo>
                <a:lnTo>
                  <a:pt x="0" y="279858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68096" y="794933"/>
            <a:ext cx="11270244" cy="183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04"/>
              </a:lnSpc>
            </a:pPr>
            <a:r>
              <a:rPr lang="en-US" sz="6765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Próximos Passos</a:t>
            </a:r>
          </a:p>
          <a:p>
            <a:pPr algn="l">
              <a:lnSpc>
                <a:spcPts val="7104"/>
              </a:lnSpc>
            </a:pPr>
            <a:r>
              <a:rPr lang="en-US" sz="6765" b="true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 Encerramento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625984" y="2440208"/>
            <a:ext cx="2098276" cy="428865"/>
          </a:xfrm>
          <a:custGeom>
            <a:avLst/>
            <a:gdLst/>
            <a:ahLst/>
            <a:cxnLst/>
            <a:rect r="r" b="b" t="t" l="l"/>
            <a:pathLst>
              <a:path h="428865" w="2098276">
                <a:moveTo>
                  <a:pt x="0" y="0"/>
                </a:moveTo>
                <a:lnTo>
                  <a:pt x="2098276" y="0"/>
                </a:lnTo>
                <a:lnTo>
                  <a:pt x="2098276" y="428866"/>
                </a:lnTo>
                <a:lnTo>
                  <a:pt x="0" y="42886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15357" r="0" b="-9949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68096" y="2934155"/>
            <a:ext cx="9242965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Coletar dados com diversos participantes para maior precisão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68096" y="4088670"/>
            <a:ext cx="683971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Treinar e validar módulo manual por participante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68096" y="5273527"/>
            <a:ext cx="859466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Medir desempenho com métricas reais e separar conjunto teste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8096" y="6579973"/>
            <a:ext cx="647395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7700" indent="-323850" lvl="1">
              <a:lnSpc>
                <a:spcPts val="4200"/>
              </a:lnSpc>
              <a:buFont typeface="Arial"/>
              <a:buChar char="•"/>
            </a:pPr>
            <a:r>
              <a:rPr lang="en-US" sz="3000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Integrar sinais faciais e sinais não manuais para fusão multimodal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68096" y="7951573"/>
            <a:ext cx="8936182" cy="2153601"/>
          </a:xfrm>
          <a:custGeom>
            <a:avLst/>
            <a:gdLst/>
            <a:ahLst/>
            <a:cxnLst/>
            <a:rect r="r" b="b" t="t" l="l"/>
            <a:pathLst>
              <a:path h="2153601" w="8936182">
                <a:moveTo>
                  <a:pt x="0" y="0"/>
                </a:moveTo>
                <a:lnTo>
                  <a:pt x="8936182" y="0"/>
                </a:lnTo>
                <a:lnTo>
                  <a:pt x="8936182" y="2153602"/>
                </a:lnTo>
                <a:lnTo>
                  <a:pt x="0" y="215360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109618" y="8485354"/>
            <a:ext cx="8513064" cy="1028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11"/>
              </a:lnSpc>
            </a:pPr>
            <a:r>
              <a:rPr lang="en-US" sz="3008" b="true">
                <a:solidFill>
                  <a:srgbClr val="00C2CB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Resultado esperado: </a:t>
            </a:r>
            <a:r>
              <a:rPr lang="en-US" sz="3008">
                <a:solidFill>
                  <a:srgbClr val="FFFFFF"/>
                </a:solidFill>
                <a:latin typeface="HK Grotesk"/>
                <a:ea typeface="HK Grotesk"/>
                <a:cs typeface="HK Grotesk"/>
                <a:sym typeface="HK Grotesk"/>
              </a:rPr>
              <a:t>comunicação assistida, corrigível e evolutiva</a:t>
            </a:r>
          </a:p>
        </p:txBody>
      </p:sp>
    </p:spTree>
  </p:cSld>
  <p:clrMapOvr>
    <a:masterClrMapping/>
  </p:clrMapOvr>
  <p:transition spd="slow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5296" y="3278732"/>
            <a:ext cx="7022592" cy="1592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49"/>
              </a:lnSpc>
            </a:pPr>
            <a:r>
              <a:rPr lang="en-US" sz="11949" b="true">
                <a:solidFill>
                  <a:srgbClr val="E8FA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Obrigado!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028700" y="5143500"/>
            <a:ext cx="3062584" cy="437279"/>
          </a:xfrm>
          <a:custGeom>
            <a:avLst/>
            <a:gdLst/>
            <a:ahLst/>
            <a:cxnLst/>
            <a:rect r="r" b="b" t="t" l="l"/>
            <a:pathLst>
              <a:path h="437279" w="3062584">
                <a:moveTo>
                  <a:pt x="0" y="0"/>
                </a:moveTo>
                <a:lnTo>
                  <a:pt x="3062584" y="0"/>
                </a:lnTo>
                <a:lnTo>
                  <a:pt x="3062584" y="437279"/>
                </a:lnTo>
                <a:lnTo>
                  <a:pt x="0" y="4372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DAHVq7acZCw</dc:identifier>
  <dcterms:modified xsi:type="dcterms:W3CDTF">2011-08-01T06:04:30Z</dcterms:modified>
  <cp:revision>1</cp:revision>
  <dc:title>Reconhecimento de Libras</dc:title>
</cp:coreProperties>
</file>