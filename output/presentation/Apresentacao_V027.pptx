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  <p:embeddedFont>
      <p:font typeface="Nourd Semi-Bold" charset="1" panose="00000700000000000000"/>
      <p:regular r:id="rId21"/>
    </p:embeddedFont>
    <p:embeddedFont>
      <p:font typeface="Muli Bold" charset="1" panose="00000800000000000000"/>
      <p:regular r:id="rId22"/>
    </p:embeddedFont>
    <p:embeddedFont>
      <p:font typeface="Muli Semi-Bold" charset="1" panose="00000700000000000000"/>
      <p:regular r:id="rId23"/>
    </p:embeddedFont>
    <p:embeddedFont>
      <p:font typeface="Roboto Bold" charset="1" panose="02000000000000000000"/>
      <p:regular r:id="rId24"/>
    </p:embeddedFont>
    <p:embeddedFont>
      <p:font typeface="Roboto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20.pn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9.pn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7611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82171" y="43268"/>
            <a:ext cx="4146697" cy="1970864"/>
          </a:xfrm>
          <a:custGeom>
            <a:avLst/>
            <a:gdLst/>
            <a:ahLst/>
            <a:cxnLst/>
            <a:rect r="r" b="b" t="t" l="l"/>
            <a:pathLst>
              <a:path h="1970864" w="4146697">
                <a:moveTo>
                  <a:pt x="0" y="0"/>
                </a:moveTo>
                <a:lnTo>
                  <a:pt x="4146697" y="0"/>
                </a:lnTo>
                <a:lnTo>
                  <a:pt x="4146697" y="1970864"/>
                </a:lnTo>
                <a:lnTo>
                  <a:pt x="0" y="197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941" y="467355"/>
            <a:ext cx="13084230" cy="2731333"/>
          </a:xfrm>
          <a:custGeom>
            <a:avLst/>
            <a:gdLst/>
            <a:ahLst/>
            <a:cxnLst/>
            <a:rect r="r" b="b" t="t" l="l"/>
            <a:pathLst>
              <a:path h="2731333" w="13084230">
                <a:moveTo>
                  <a:pt x="0" y="0"/>
                </a:moveTo>
                <a:lnTo>
                  <a:pt x="13084230" y="0"/>
                </a:lnTo>
                <a:lnTo>
                  <a:pt x="13084230" y="2731333"/>
                </a:lnTo>
                <a:lnTo>
                  <a:pt x="0" y="2731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06359" y="9258300"/>
            <a:ext cx="2761377" cy="702179"/>
          </a:xfrm>
          <a:custGeom>
            <a:avLst/>
            <a:gdLst/>
            <a:ahLst/>
            <a:cxnLst/>
            <a:rect r="r" b="b" t="t" l="l"/>
            <a:pathLst>
              <a:path h="702179" w="2761377">
                <a:moveTo>
                  <a:pt x="0" y="0"/>
                </a:moveTo>
                <a:lnTo>
                  <a:pt x="2761377" y="0"/>
                </a:lnTo>
                <a:lnTo>
                  <a:pt x="2761377" y="702179"/>
                </a:lnTo>
                <a:lnTo>
                  <a:pt x="0" y="702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54437" y="1909357"/>
            <a:ext cx="3439914" cy="86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 da Informação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Ciências da Computação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12815"/>
            <a:ext cx="6877659" cy="324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Francisco de Assis Cavallaro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Kayke Vinicius Dias Moreira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Rafael Oliveira Cotrin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Thais Novaes Rodrigues de Lima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Arthur Costa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Gabriel Daher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83308" y="3657518"/>
            <a:ext cx="10174159" cy="4012434"/>
          </a:xfrm>
          <a:custGeom>
            <a:avLst/>
            <a:gdLst/>
            <a:ahLst/>
            <a:cxnLst/>
            <a:rect r="r" b="b" t="t" l="l"/>
            <a:pathLst>
              <a:path h="4012434" w="10174159">
                <a:moveTo>
                  <a:pt x="0" y="0"/>
                </a:moveTo>
                <a:lnTo>
                  <a:pt x="10174159" y="0"/>
                </a:lnTo>
                <a:lnTo>
                  <a:pt x="10174159" y="4012434"/>
                </a:lnTo>
                <a:lnTo>
                  <a:pt x="0" y="401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08635"/>
            <a:ext cx="8758749" cy="364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9"/>
              </a:lnSpc>
            </a:pPr>
            <a:r>
              <a:rPr lang="en-US" sz="9439" spc="-18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Reconhecimento e tradução de </a:t>
            </a:r>
          </a:p>
          <a:p>
            <a:pPr algn="l">
              <a:lnSpc>
                <a:spcPts val="9439"/>
              </a:lnSpc>
            </a:pPr>
            <a:r>
              <a:rPr lang="en-US" sz="9439" spc="-188" b="true">
                <a:solidFill>
                  <a:srgbClr val="12E8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Libras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2272" y="7908357"/>
            <a:ext cx="919930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Visão computacional e </a:t>
            </a:r>
            <a:r>
              <a:rPr lang="en-US" sz="3500">
                <a:solidFill>
                  <a:srgbClr val="12E8F6"/>
                </a:solidFill>
                <a:latin typeface="HK Grotesk"/>
                <a:ea typeface="HK Grotesk"/>
                <a:cs typeface="HK Grotesk"/>
                <a:sym typeface="HK Grotesk"/>
              </a:rPr>
              <a:t>aprendizado de máquina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para apoiar uma </a:t>
            </a:r>
            <a:r>
              <a:rPr lang="en-US" sz="3500">
                <a:solidFill>
                  <a:srgbClr val="12E8F6"/>
                </a:solidFill>
                <a:latin typeface="HK Grotesk"/>
                <a:ea typeface="HK Grotesk"/>
                <a:cs typeface="HK Grotesk"/>
                <a:sym typeface="HK Grotesk"/>
              </a:rPr>
              <a:t>comunicação mais acessível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458450" cy="10287000"/>
          </a:xfrm>
          <a:custGeom>
            <a:avLst/>
            <a:gdLst/>
            <a:ahLst/>
            <a:cxnLst/>
            <a:rect r="r" b="b" t="t" l="l"/>
            <a:pathLst>
              <a:path h="10287000" w="10458450">
                <a:moveTo>
                  <a:pt x="0" y="0"/>
                </a:moveTo>
                <a:lnTo>
                  <a:pt x="10458450" y="0"/>
                </a:lnTo>
                <a:lnTo>
                  <a:pt x="10458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2775" y="638175"/>
            <a:ext cx="11325225" cy="9648825"/>
          </a:xfrm>
          <a:custGeom>
            <a:avLst/>
            <a:gdLst/>
            <a:ahLst/>
            <a:cxnLst/>
            <a:rect r="r" b="b" t="t" l="l"/>
            <a:pathLst>
              <a:path h="9648825" w="11325225">
                <a:moveTo>
                  <a:pt x="0" y="0"/>
                </a:moveTo>
                <a:lnTo>
                  <a:pt x="11325225" y="0"/>
                </a:lnTo>
                <a:lnTo>
                  <a:pt x="11325225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924815"/>
            <a:ext cx="7592487" cy="206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9"/>
              </a:lnSpc>
            </a:pPr>
            <a:r>
              <a:rPr lang="en-US" sz="7299" b="true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Contexto</a:t>
            </a:r>
          </a:p>
          <a:p>
            <a:pPr algn="l">
              <a:lnSpc>
                <a:spcPts val="8029"/>
              </a:lnSpc>
            </a:pPr>
            <a:r>
              <a:rPr lang="en-US" sz="7299" b="true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384" y="3688461"/>
            <a:ext cx="550468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comunicação em Libras ainda enfrenta barreiras de autonomia.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384" y="5023104"/>
            <a:ext cx="6620256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Nosso objetivo é criar uma interface que </a:t>
            </a:r>
            <a:r>
              <a:rPr lang="en-US" sz="2962">
                <a:solidFill>
                  <a:srgbClr val="00E8D1"/>
                </a:solidFill>
                <a:latin typeface="HK Grotesk"/>
                <a:ea typeface="HK Grotesk"/>
                <a:cs typeface="HK Grotesk"/>
                <a:sym typeface="HK Grotesk"/>
              </a:rPr>
              <a:t>capture sinais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identifique letras ou sinais e </a:t>
            </a:r>
            <a:r>
              <a:rPr lang="en-US" sz="2962">
                <a:solidFill>
                  <a:srgbClr val="00E8D1"/>
                </a:solidFill>
                <a:latin typeface="HK Grotesk"/>
                <a:ea typeface="HK Grotesk"/>
                <a:cs typeface="HK Grotesk"/>
                <a:sym typeface="HK Grotesk"/>
              </a:rPr>
              <a:t>permita no futuro, a tradução.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4" y="6815519"/>
            <a:ext cx="7112724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protótipo ainda </a:t>
            </a:r>
            <a:r>
              <a:rPr lang="en-US" sz="2962">
                <a:solidFill>
                  <a:srgbClr val="00E8D1"/>
                </a:solidFill>
                <a:latin typeface="HK Grotesk"/>
                <a:ea typeface="HK Grotesk"/>
                <a:cs typeface="HK Grotesk"/>
                <a:sym typeface="HK Grotesk"/>
              </a:rPr>
              <a:t>não traduz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Libras completa. Valida vocabulário controlado com foco nos sinais manuais a principio.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68000" y="4714875"/>
            <a:ext cx="2838450" cy="2143125"/>
          </a:xfrm>
          <a:custGeom>
            <a:avLst/>
            <a:gdLst/>
            <a:ahLst/>
            <a:cxnLst/>
            <a:rect r="r" b="b" t="t" l="l"/>
            <a:pathLst>
              <a:path h="2143125" w="2838450">
                <a:moveTo>
                  <a:pt x="0" y="0"/>
                </a:moveTo>
                <a:lnTo>
                  <a:pt x="2838450" y="0"/>
                </a:lnTo>
                <a:lnTo>
                  <a:pt x="2838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16000" y="2352675"/>
            <a:ext cx="2619375" cy="3009900"/>
          </a:xfrm>
          <a:custGeom>
            <a:avLst/>
            <a:gdLst/>
            <a:ahLst/>
            <a:cxnLst/>
            <a:rect r="r" b="b" t="t" l="l"/>
            <a:pathLst>
              <a:path h="3009900" w="2619375">
                <a:moveTo>
                  <a:pt x="0" y="0"/>
                </a:moveTo>
                <a:lnTo>
                  <a:pt x="2619375" y="0"/>
                </a:lnTo>
                <a:lnTo>
                  <a:pt x="26193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5" y="1431238"/>
            <a:ext cx="17052110" cy="7973767"/>
          </a:xfrm>
          <a:custGeom>
            <a:avLst/>
            <a:gdLst/>
            <a:ahLst/>
            <a:cxnLst/>
            <a:rect r="r" b="b" t="t" l="l"/>
            <a:pathLst>
              <a:path h="7973767" w="17052110">
                <a:moveTo>
                  <a:pt x="0" y="0"/>
                </a:moveTo>
                <a:lnTo>
                  <a:pt x="17052110" y="0"/>
                </a:lnTo>
                <a:lnTo>
                  <a:pt x="17052110" y="7973767"/>
                </a:lnTo>
                <a:lnTo>
                  <a:pt x="0" y="7973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27" r="-1155" b="-575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5030" y="564463"/>
            <a:ext cx="1614653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Traduzindo a Anatomia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3911" y="2977231"/>
            <a:ext cx="7300183" cy="2271802"/>
          </a:xfrm>
          <a:custGeom>
            <a:avLst/>
            <a:gdLst/>
            <a:ahLst/>
            <a:cxnLst/>
            <a:rect r="r" b="b" t="t" l="l"/>
            <a:pathLst>
              <a:path h="2271802" w="7300183">
                <a:moveTo>
                  <a:pt x="0" y="0"/>
                </a:moveTo>
                <a:lnTo>
                  <a:pt x="7300183" y="0"/>
                </a:lnTo>
                <a:lnTo>
                  <a:pt x="7300183" y="2271802"/>
                </a:lnTo>
                <a:lnTo>
                  <a:pt x="0" y="227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46444" y="4113132"/>
            <a:ext cx="6355115" cy="801722"/>
          </a:xfrm>
          <a:custGeom>
            <a:avLst/>
            <a:gdLst/>
            <a:ahLst/>
            <a:cxnLst/>
            <a:rect r="r" b="b" t="t" l="l"/>
            <a:pathLst>
              <a:path h="801722" w="6355115">
                <a:moveTo>
                  <a:pt x="0" y="0"/>
                </a:moveTo>
                <a:lnTo>
                  <a:pt x="6355116" y="0"/>
                </a:lnTo>
                <a:lnTo>
                  <a:pt x="6355116" y="801722"/>
                </a:lnTo>
                <a:lnTo>
                  <a:pt x="0" y="801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3911" y="3158381"/>
            <a:ext cx="4372685" cy="731197"/>
          </a:xfrm>
          <a:custGeom>
            <a:avLst/>
            <a:gdLst/>
            <a:ahLst/>
            <a:cxnLst/>
            <a:rect r="r" b="b" t="t" l="l"/>
            <a:pathLst>
              <a:path h="731197" w="4372685">
                <a:moveTo>
                  <a:pt x="0" y="0"/>
                </a:moveTo>
                <a:lnTo>
                  <a:pt x="4372685" y="0"/>
                </a:lnTo>
                <a:lnTo>
                  <a:pt x="4372685" y="731197"/>
                </a:lnTo>
                <a:lnTo>
                  <a:pt x="0" y="73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9567" b="-150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3911" y="6132134"/>
            <a:ext cx="7300183" cy="2551492"/>
          </a:xfrm>
          <a:custGeom>
            <a:avLst/>
            <a:gdLst/>
            <a:ahLst/>
            <a:cxnLst/>
            <a:rect r="r" b="b" t="t" l="l"/>
            <a:pathLst>
              <a:path h="2551492" w="7300183">
                <a:moveTo>
                  <a:pt x="0" y="0"/>
                </a:moveTo>
                <a:lnTo>
                  <a:pt x="7300183" y="0"/>
                </a:lnTo>
                <a:lnTo>
                  <a:pt x="7300183" y="2551492"/>
                </a:lnTo>
                <a:lnTo>
                  <a:pt x="0" y="2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93" t="-3271" r="-12293" b="-76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73911" y="6269812"/>
            <a:ext cx="3949703" cy="863822"/>
          </a:xfrm>
          <a:custGeom>
            <a:avLst/>
            <a:gdLst/>
            <a:ahLst/>
            <a:cxnLst/>
            <a:rect r="r" b="b" t="t" l="l"/>
            <a:pathLst>
              <a:path h="863822" w="3949703">
                <a:moveTo>
                  <a:pt x="0" y="0"/>
                </a:moveTo>
                <a:lnTo>
                  <a:pt x="3949702" y="0"/>
                </a:lnTo>
                <a:lnTo>
                  <a:pt x="3949702" y="863823"/>
                </a:lnTo>
                <a:lnTo>
                  <a:pt x="0" y="863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30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3390" y="1919676"/>
            <a:ext cx="7541615" cy="7513538"/>
          </a:xfrm>
          <a:custGeom>
            <a:avLst/>
            <a:gdLst/>
            <a:ahLst/>
            <a:cxnLst/>
            <a:rect r="r" b="b" t="t" l="l"/>
            <a:pathLst>
              <a:path h="7513538" w="7541615">
                <a:moveTo>
                  <a:pt x="0" y="0"/>
                </a:moveTo>
                <a:lnTo>
                  <a:pt x="7541615" y="0"/>
                </a:lnTo>
                <a:lnTo>
                  <a:pt x="7541615" y="7513537"/>
                </a:lnTo>
                <a:lnTo>
                  <a:pt x="0" y="7513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62" t="0" r="-1004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02181" y="7038385"/>
            <a:ext cx="6843642" cy="13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22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468 pontos-chave rastreados × 3 eixos espaciais = Um vetor estruturado de 1.404 dimensões por frame, imune a variações de textura ou iluminação superficial.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5030" y="564463"/>
            <a:ext cx="1614653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Traduzindo a Anatomia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0639"/>
            <a:ext cx="16146534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Pipeline de Reconhecimento de Gestos e Visão Computacional</a:t>
            </a:r>
          </a:p>
          <a:p>
            <a:pPr algn="ctr">
              <a:lnSpc>
                <a:spcPts val="6600"/>
              </a:lnSpc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513821" y="1362767"/>
            <a:ext cx="21231577" cy="10122031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854174"/>
            <a:ext cx="8595360" cy="20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8"/>
              </a:lnSpc>
            </a:pPr>
            <a:r>
              <a:rPr lang="en-US" sz="7380" spc="-22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Abordagem Técnica</a:t>
            </a:r>
          </a:p>
          <a:p>
            <a:pPr algn="l">
              <a:lnSpc>
                <a:spcPts val="8118"/>
              </a:lnSpc>
            </a:pPr>
            <a:r>
              <a:rPr lang="en-US" sz="7380" spc="-22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Fluxo do Sistema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7818" y="3640352"/>
            <a:ext cx="3062584" cy="3006296"/>
          </a:xfrm>
          <a:custGeom>
            <a:avLst/>
            <a:gdLst/>
            <a:ahLst/>
            <a:cxnLst/>
            <a:rect r="r" b="b" t="t" l="l"/>
            <a:pathLst>
              <a:path h="3006296" w="3062584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4285339"/>
            <a:ext cx="2187560" cy="1716322"/>
          </a:xfrm>
          <a:custGeom>
            <a:avLst/>
            <a:gdLst/>
            <a:ahLst/>
            <a:cxnLst/>
            <a:rect r="r" b="b" t="t" l="l"/>
            <a:pathLst>
              <a:path h="1716322" w="2187560">
                <a:moveTo>
                  <a:pt x="0" y="0"/>
                </a:moveTo>
                <a:lnTo>
                  <a:pt x="2187560" y="0"/>
                </a:lnTo>
                <a:lnTo>
                  <a:pt x="218756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216" y="7209435"/>
            <a:ext cx="2157984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captura sequência visual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2195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9464" y="3640352"/>
            <a:ext cx="3062584" cy="3006296"/>
          </a:xfrm>
          <a:custGeom>
            <a:avLst/>
            <a:gdLst/>
            <a:ahLst/>
            <a:cxnLst/>
            <a:rect r="r" b="b" t="t" l="l"/>
            <a:pathLst>
              <a:path h="3006296" w="3062584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8220" y="3848060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6160" y="6804235"/>
            <a:ext cx="146304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MediaPipe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66160" y="7209435"/>
            <a:ext cx="2487168" cy="206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62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detecta landmarks por mão e pontos faciais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2354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9866" y="3640352"/>
            <a:ext cx="3051646" cy="3006296"/>
          </a:xfrm>
          <a:custGeom>
            <a:avLst/>
            <a:gdLst/>
            <a:ahLst/>
            <a:cxnLst/>
            <a:rect r="r" b="b" t="t" l="l"/>
            <a:pathLst>
              <a:path h="3006296" w="3051646">
                <a:moveTo>
                  <a:pt x="0" y="0"/>
                </a:moveTo>
                <a:lnTo>
                  <a:pt x="3051646" y="0"/>
                </a:lnTo>
                <a:lnTo>
                  <a:pt x="305164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48622" y="4285339"/>
            <a:ext cx="2614134" cy="1716322"/>
          </a:xfrm>
          <a:custGeom>
            <a:avLst/>
            <a:gdLst/>
            <a:ahLst/>
            <a:cxnLst/>
            <a:rect r="r" b="b" t="t" l="l"/>
            <a:pathLst>
              <a:path h="1716322" w="2614134">
                <a:moveTo>
                  <a:pt x="0" y="0"/>
                </a:moveTo>
                <a:lnTo>
                  <a:pt x="2614134" y="0"/>
                </a:lnTo>
                <a:lnTo>
                  <a:pt x="261413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56832" y="7209435"/>
            <a:ext cx="2103120" cy="206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centraliza, escala, alinha e suaviza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movimento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51818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7057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86416" y="4654141"/>
            <a:ext cx="1792224" cy="93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4"/>
              </a:lnSpc>
            </a:pPr>
            <a:r>
              <a:rPr lang="en-US" b="true" sz="6522" spc="-195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SVM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7232" y="6804235"/>
            <a:ext cx="1847088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Classificação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7232" y="7209435"/>
            <a:ext cx="2157984" cy="259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algoritmo SVM identifica o sinal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estima confiança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96595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346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22220" y="3848060"/>
            <a:ext cx="2406316" cy="2590881"/>
          </a:xfrm>
          <a:custGeom>
            <a:avLst/>
            <a:gdLst/>
            <a:ahLst/>
            <a:cxnLst/>
            <a:rect r="r" b="b" t="t" l="l"/>
            <a:pathLst>
              <a:path h="2590881" w="2406316">
                <a:moveTo>
                  <a:pt x="0" y="0"/>
                </a:moveTo>
                <a:lnTo>
                  <a:pt x="2406316" y="0"/>
                </a:lnTo>
                <a:lnTo>
                  <a:pt x="240631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039344" y="4198798"/>
            <a:ext cx="1463040" cy="6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60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Sinal detectado Olá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840976" y="4919394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840976" y="5564382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002768" y="5799581"/>
            <a:ext cx="621792" cy="19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04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Confirmar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716000" y="5564382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008608" y="5786230"/>
            <a:ext cx="512064" cy="21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10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Corrigir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79884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3635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73866" y="3848060"/>
            <a:ext cx="1750048" cy="2372241"/>
          </a:xfrm>
          <a:custGeom>
            <a:avLst/>
            <a:gdLst/>
            <a:ahLst/>
            <a:cxnLst/>
            <a:rect r="r" b="b" t="t" l="l"/>
            <a:pathLst>
              <a:path h="2372241" w="1750048">
                <a:moveTo>
                  <a:pt x="0" y="0"/>
                </a:moveTo>
                <a:lnTo>
                  <a:pt x="1750048" y="0"/>
                </a:lnTo>
                <a:lnTo>
                  <a:pt x="175004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453360" y="7190506"/>
            <a:ext cx="2414016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salva o sinal validado no banco de dados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5216" y="6804235"/>
            <a:ext cx="1261872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Webcam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56832" y="6804235"/>
            <a:ext cx="192024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Normalização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73584" y="6804235"/>
            <a:ext cx="1408176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Front-end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73584" y="7224740"/>
            <a:ext cx="2304288" cy="206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permite confirmação nu correção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do resultado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53360" y="6804235"/>
            <a:ext cx="118872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Registro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6910" y="-785343"/>
            <a:ext cx="20174910" cy="11072343"/>
          </a:xfrm>
          <a:custGeom>
            <a:avLst/>
            <a:gdLst/>
            <a:ahLst/>
            <a:cxnLst/>
            <a:rect r="r" b="b" t="t" l="l"/>
            <a:pathLst>
              <a:path h="11072343" w="20174910">
                <a:moveTo>
                  <a:pt x="0" y="0"/>
                </a:moveTo>
                <a:lnTo>
                  <a:pt x="20174910" y="0"/>
                </a:lnTo>
                <a:lnTo>
                  <a:pt x="20174910" y="11072343"/>
                </a:lnTo>
                <a:lnTo>
                  <a:pt x="0" y="1107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2087" r="0" b="-12208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8168" y="2432876"/>
            <a:ext cx="11459832" cy="7854124"/>
          </a:xfrm>
          <a:custGeom>
            <a:avLst/>
            <a:gdLst/>
            <a:ahLst/>
            <a:cxnLst/>
            <a:rect r="r" b="b" t="t" l="l"/>
            <a:pathLst>
              <a:path h="7854124" w="11459832">
                <a:moveTo>
                  <a:pt x="0" y="0"/>
                </a:moveTo>
                <a:lnTo>
                  <a:pt x="11459832" y="0"/>
                </a:lnTo>
                <a:lnTo>
                  <a:pt x="11459832" y="7854124"/>
                </a:lnTo>
                <a:lnTo>
                  <a:pt x="0" y="7854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3" t="0" r="-160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704521"/>
            <a:ext cx="16989552" cy="9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2"/>
              </a:lnSpc>
            </a:pPr>
            <a:r>
              <a:rPr lang="en-US" b="true" sz="6501" spc="-39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Preparação de Dados e Treinamento do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640" y="2290655"/>
            <a:ext cx="3163824" cy="30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Amostras padronizadas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640" y="2629686"/>
            <a:ext cx="7315200" cy="83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Vídeos curtos de 30 quadros (1 seg).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Ajuste de posição, tamanho e rotação da mão.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8640" y="3869734"/>
            <a:ext cx="3255264" cy="31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203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Divisão por participante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640" y="4246078"/>
            <a:ext cx="7315200" cy="125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70% Treino: Aprendizado do sistema.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Validação: Ajustes intermediários.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Teste: Prova final com dados inéditos.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216" y="5901440"/>
            <a:ext cx="2816352" cy="32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2259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Modelo inicial (SVM)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5216" y="6324052"/>
            <a:ext cx="7315200" cy="125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70% Treino: Aprendizado do sistema.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Validação: Ajustes intermediários.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Teste: Prova final com dados inéditos.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216" y="7926038"/>
            <a:ext cx="2688336" cy="30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Avaliação planejada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216" y="8324778"/>
            <a:ext cx="6242952" cy="119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71" indent="-246936" lvl="1">
              <a:lnSpc>
                <a:spcPts val="3202"/>
              </a:lnSpc>
              <a:buFont typeface="Arial"/>
              <a:buChar char="•"/>
            </a:pPr>
            <a:r>
              <a:rPr lang="en-US" b="true" sz="228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Medição de acertos (Acurácia / Precisão).</a:t>
            </a:r>
          </a:p>
          <a:p>
            <a:pPr algn="l" marL="493871" indent="-246936" lvl="1">
              <a:lnSpc>
                <a:spcPts val="3202"/>
              </a:lnSpc>
              <a:buFont typeface="Arial"/>
              <a:buChar char="•"/>
            </a:pPr>
            <a:r>
              <a:rPr lang="en-US" b="true" sz="228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Matriz de Confusão: Identifica sinais confundidos.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320992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080" y="855917"/>
            <a:ext cx="908913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spc="-12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Experiência do Usuário e Rastreabilidade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080" y="4109085"/>
            <a:ext cx="34747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489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Interação em tempo real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080" y="4639247"/>
            <a:ext cx="37673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captura ao vivo via webcam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80" y="5395722"/>
            <a:ext cx="395020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Predição com transparência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080" y="5920359"/>
            <a:ext cx="53218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3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letra/sinal e nível de confiança exibidos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080" y="6743319"/>
            <a:ext cx="42793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Confirmação antes do registro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080" y="7267956"/>
            <a:ext cx="39502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revise e corrijia, se necessário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" y="8183499"/>
            <a:ext cx="43159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Histórico completo e auditável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" y="8712899"/>
            <a:ext cx="63642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predição original, correção e versão do modelo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81850" y="1924050"/>
            <a:ext cx="11106150" cy="8153400"/>
          </a:xfrm>
          <a:custGeom>
            <a:avLst/>
            <a:gdLst/>
            <a:ahLst/>
            <a:cxnLst/>
            <a:rect r="r" b="b" t="t" l="l"/>
            <a:pathLst>
              <a:path h="8153400" w="11106150">
                <a:moveTo>
                  <a:pt x="0" y="0"/>
                </a:moveTo>
                <a:lnTo>
                  <a:pt x="11106150" y="0"/>
                </a:lnTo>
                <a:lnTo>
                  <a:pt x="11106150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01550" y="3429000"/>
            <a:ext cx="2190750" cy="2790825"/>
          </a:xfrm>
          <a:custGeom>
            <a:avLst/>
            <a:gdLst/>
            <a:ahLst/>
            <a:cxnLst/>
            <a:rect r="r" b="b" t="t" l="l"/>
            <a:pathLst>
              <a:path h="2790825" w="2190750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28448" y="3656267"/>
            <a:ext cx="7680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Precição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360" y="4106608"/>
            <a:ext cx="74980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7995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28448" y="5132070"/>
            <a:ext cx="148132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Nível de confiança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0784" y="5414201"/>
            <a:ext cx="7132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92%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363700" y="3429000"/>
            <a:ext cx="2619375" cy="2790825"/>
          </a:xfrm>
          <a:custGeom>
            <a:avLst/>
            <a:gdLst/>
            <a:ahLst/>
            <a:cxnLst/>
            <a:rect r="r" b="b" t="t" l="l"/>
            <a:pathLst>
              <a:path h="2790825" w="2619375">
                <a:moveTo>
                  <a:pt x="0" y="0"/>
                </a:moveTo>
                <a:lnTo>
                  <a:pt x="2619375" y="0"/>
                </a:lnTo>
                <a:lnTo>
                  <a:pt x="2619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721840" y="3656267"/>
            <a:ext cx="153619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Estado do modelo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5850" y="6858000"/>
            <a:ext cx="3276600" cy="1504950"/>
          </a:xfrm>
          <a:custGeom>
            <a:avLst/>
            <a:gdLst/>
            <a:ahLst/>
            <a:cxnLst/>
            <a:rect r="r" b="b" t="t" l="l"/>
            <a:pathLst>
              <a:path h="1504950" w="3276600">
                <a:moveTo>
                  <a:pt x="0" y="0"/>
                </a:moveTo>
                <a:lnTo>
                  <a:pt x="3276600" y="0"/>
                </a:lnTo>
                <a:lnTo>
                  <a:pt x="3276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15984" y="7025450"/>
            <a:ext cx="32918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</a:pPr>
            <a:r>
              <a:rPr lang="en-US" sz="4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72925" y="6858000"/>
            <a:ext cx="1533525" cy="857250"/>
          </a:xfrm>
          <a:custGeom>
            <a:avLst/>
            <a:gdLst/>
            <a:ahLst/>
            <a:cxnLst/>
            <a:rect r="r" b="b" t="t" l="l"/>
            <a:pathLst>
              <a:path h="857250" w="1533525">
                <a:moveTo>
                  <a:pt x="0" y="0"/>
                </a:moveTo>
                <a:lnTo>
                  <a:pt x="1533525" y="0"/>
                </a:lnTo>
                <a:lnTo>
                  <a:pt x="1533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72925" y="7496175"/>
            <a:ext cx="1533525" cy="866775"/>
          </a:xfrm>
          <a:custGeom>
            <a:avLst/>
            <a:gdLst/>
            <a:ahLst/>
            <a:cxnLst/>
            <a:rect r="r" b="b" t="t" l="l"/>
            <a:pathLst>
              <a:path h="866775" w="1533525">
                <a:moveTo>
                  <a:pt x="0" y="0"/>
                </a:moveTo>
                <a:lnTo>
                  <a:pt x="1533525" y="0"/>
                </a:lnTo>
                <a:lnTo>
                  <a:pt x="1533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96925" y="6210300"/>
            <a:ext cx="3486150" cy="2362200"/>
          </a:xfrm>
          <a:custGeom>
            <a:avLst/>
            <a:gdLst/>
            <a:ahLst/>
            <a:cxnLst/>
            <a:rect r="r" b="b" t="t" l="l"/>
            <a:pathLst>
              <a:path h="2362200" w="348615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52960" y="7164133"/>
            <a:ext cx="84124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44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Confirmar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69680" y="6766179"/>
            <a:ext cx="84124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3"/>
              </a:lnSpc>
            </a:pPr>
            <a:r>
              <a:rPr lang="en-US" sz="130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Mensagem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2576" y="7039165"/>
            <a:ext cx="138988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Predição original: 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52576" y="7333488"/>
            <a:ext cx="100584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Correção: 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52576" y="8150162"/>
            <a:ext cx="25603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sz="13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e hora: </a:t>
            </a:r>
            <a:r>
              <a:rPr lang="en-US" sz="1321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15/09/2025</a:t>
            </a:r>
            <a:r>
              <a:rPr lang="en-US" sz="13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10:24:31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17552" y="7822501"/>
            <a:ext cx="69494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Corrigir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52576" y="6505765"/>
            <a:ext cx="117043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Registro: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96528" y="3183065"/>
            <a:ext cx="140817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Captura ao vivo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796528" y="3576293"/>
            <a:ext cx="2975673" cy="3025258"/>
          </a:xfrm>
          <a:custGeom>
            <a:avLst/>
            <a:gdLst/>
            <a:ahLst/>
            <a:cxnLst/>
            <a:rect r="r" b="b" t="t" l="l"/>
            <a:pathLst>
              <a:path h="3025258" w="2975673">
                <a:moveTo>
                  <a:pt x="0" y="0"/>
                </a:moveTo>
                <a:lnTo>
                  <a:pt x="2975673" y="0"/>
                </a:lnTo>
                <a:lnTo>
                  <a:pt x="2975673" y="3025258"/>
                </a:lnTo>
                <a:lnTo>
                  <a:pt x="0" y="3025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67233" b="-40143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01747" y="2569820"/>
            <a:ext cx="14628485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true">
                <a:solidFill>
                  <a:srgbClr val="E8F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COLOCAR O VIDEO AQUI!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61330" y="0"/>
            <a:ext cx="3926670" cy="3651284"/>
          </a:xfrm>
          <a:custGeom>
            <a:avLst/>
            <a:gdLst/>
            <a:ahLst/>
            <a:cxnLst/>
            <a:rect r="r" b="b" t="t" l="l"/>
            <a:pathLst>
              <a:path h="3651284" w="3926670">
                <a:moveTo>
                  <a:pt x="0" y="0"/>
                </a:moveTo>
                <a:lnTo>
                  <a:pt x="3926670" y="0"/>
                </a:lnTo>
                <a:lnTo>
                  <a:pt x="392667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2569017"/>
            <a:ext cx="9362756" cy="7717983"/>
          </a:xfrm>
          <a:custGeom>
            <a:avLst/>
            <a:gdLst/>
            <a:ahLst/>
            <a:cxnLst/>
            <a:rect r="r" b="b" t="t" l="l"/>
            <a:pathLst>
              <a:path h="7717983" w="9362756">
                <a:moveTo>
                  <a:pt x="0" y="0"/>
                </a:moveTo>
                <a:lnTo>
                  <a:pt x="9362756" y="0"/>
                </a:lnTo>
                <a:lnTo>
                  <a:pt x="9362756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55110" y="3848060"/>
            <a:ext cx="2832890" cy="2798589"/>
          </a:xfrm>
          <a:custGeom>
            <a:avLst/>
            <a:gdLst/>
            <a:ahLst/>
            <a:cxnLst/>
            <a:rect r="r" b="b" t="t" l="l"/>
            <a:pathLst>
              <a:path h="2798589" w="2832890">
                <a:moveTo>
                  <a:pt x="0" y="0"/>
                </a:moveTo>
                <a:lnTo>
                  <a:pt x="2832890" y="0"/>
                </a:lnTo>
                <a:lnTo>
                  <a:pt x="283289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794933"/>
            <a:ext cx="11270244" cy="183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4"/>
              </a:lnSpc>
            </a:pPr>
            <a:r>
              <a:rPr lang="en-US" sz="6765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Próximos Passos</a:t>
            </a:r>
          </a:p>
          <a:p>
            <a:pPr algn="l">
              <a:lnSpc>
                <a:spcPts val="7104"/>
              </a:lnSpc>
            </a:pPr>
            <a:r>
              <a:rPr lang="en-US" sz="6765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Encerramento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5984" y="2440208"/>
            <a:ext cx="2098276" cy="428865"/>
          </a:xfrm>
          <a:custGeom>
            <a:avLst/>
            <a:gdLst/>
            <a:ahLst/>
            <a:cxnLst/>
            <a:rect r="r" b="b" t="t" l="l"/>
            <a:pathLst>
              <a:path h="428865" w="2098276">
                <a:moveTo>
                  <a:pt x="0" y="0"/>
                </a:moveTo>
                <a:lnTo>
                  <a:pt x="2098276" y="0"/>
                </a:lnTo>
                <a:lnTo>
                  <a:pt x="2098276" y="428866"/>
                </a:lnTo>
                <a:lnTo>
                  <a:pt x="0" y="428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357" r="0" b="-99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8096" y="2934155"/>
            <a:ext cx="924296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Coletar dados com diversos participantes para maior precisão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4088670"/>
            <a:ext cx="683971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Treinar e validar módulo manual por participante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5273527"/>
            <a:ext cx="859466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Medir desempenho com métricas reais e separar conjunto teste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096" y="6579973"/>
            <a:ext cx="64739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Integrar sinais faciais e sinais não manuais para fusão multimodal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8096" y="7951573"/>
            <a:ext cx="8936182" cy="2153601"/>
          </a:xfrm>
          <a:custGeom>
            <a:avLst/>
            <a:gdLst/>
            <a:ahLst/>
            <a:cxnLst/>
            <a:rect r="r" b="b" t="t" l="l"/>
            <a:pathLst>
              <a:path h="2153601" w="8936182">
                <a:moveTo>
                  <a:pt x="0" y="0"/>
                </a:moveTo>
                <a:lnTo>
                  <a:pt x="8936182" y="0"/>
                </a:lnTo>
                <a:lnTo>
                  <a:pt x="893618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9618" y="8485354"/>
            <a:ext cx="8513064" cy="102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Resultado esperado: </a:t>
            </a:r>
            <a:r>
              <a:rPr lang="en-US" sz="300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comunicação assistida, corrigível e evolutiva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5296" y="3278732"/>
            <a:ext cx="7022592" cy="159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9"/>
              </a:lnSpc>
            </a:pPr>
            <a:r>
              <a:rPr lang="en-US" sz="11949" b="true">
                <a:solidFill>
                  <a:srgbClr val="E8F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Obrigado!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143500"/>
            <a:ext cx="3062584" cy="437279"/>
          </a:xfrm>
          <a:custGeom>
            <a:avLst/>
            <a:gdLst/>
            <a:ahLst/>
            <a:cxnLst/>
            <a:rect r="r" b="b" t="t" l="l"/>
            <a:pathLst>
              <a:path h="437279" w="3062584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DAHVq7acZCw</dc:identifier>
  <dcterms:modified xsi:type="dcterms:W3CDTF">2011-08-01T06:04:30Z</dcterms:modified>
  <cp:revision>1</cp:revision>
  <dc:title>Reconhecimento de Libras</dc:title>
</cp:coreProperties>
</file>