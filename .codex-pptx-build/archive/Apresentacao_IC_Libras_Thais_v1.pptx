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7e2ba40a09433f" /><Relationship Type="http://schemas.openxmlformats.org/officeDocument/2006/relationships/extended-properties" Target="/docProps/app.xml" Id="R63860d368fc94f6d" /><Relationship Type="http://schemas.openxmlformats.org/officeDocument/2006/relationships/officeDocument" Target="/ppt/presentation.xml" Id="R35f3e0b466f64b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141068dd2e4301"/>
  </p:sldMasterIdLst>
  <p:notesMasterIdLst>
    <p:notesMasterId xmlns:r="http://schemas.openxmlformats.org/officeDocument/2006/relationships" r:id="Rf91411c4e4474a4e"/>
  </p:notesMasterIdLst>
  <p:sldIdLst>
    <p:sldId xmlns:r="http://schemas.openxmlformats.org/officeDocument/2006/relationships" id="256" r:id="R742d59820e234438"/>
    <p:sldId xmlns:r="http://schemas.openxmlformats.org/officeDocument/2006/relationships" id="257" r:id="R0e7f6870e8454d59"/>
    <p:sldId xmlns:r="http://schemas.openxmlformats.org/officeDocument/2006/relationships" id="258" r:id="R0f059efd464e47b7"/>
    <p:sldId xmlns:r="http://schemas.openxmlformats.org/officeDocument/2006/relationships" id="259" r:id="R25b98315023b4525"/>
    <p:sldId xmlns:r="http://schemas.openxmlformats.org/officeDocument/2006/relationships" id="260" r:id="R026d5af3786a487b"/>
    <p:sldId xmlns:r="http://schemas.openxmlformats.org/officeDocument/2006/relationships" id="261" r:id="R3e0d584b8c864779"/>
    <p:sldId xmlns:r="http://schemas.openxmlformats.org/officeDocument/2006/relationships" id="262" r:id="R3909773ca1194e8c"/>
    <p:sldId xmlns:r="http://schemas.openxmlformats.org/officeDocument/2006/relationships" id="263" r:id="R0b73defd0c234c56"/>
    <p:sldId xmlns:r="http://schemas.openxmlformats.org/officeDocument/2006/relationships" id="264" r:id="Radab840f8e8d4a4f"/>
    <p:sldId xmlns:r="http://schemas.openxmlformats.org/officeDocument/2006/relationships" id="265" r:id="Rc2ff23e0956943f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7c25b63108423b" /><Relationship Type="http://schemas.openxmlformats.org/officeDocument/2006/relationships/slideMaster" Target="/ppt/slideMasters/slideMaster1.xml" Id="R0d141068dd2e4301" /><Relationship Type="http://schemas.openxmlformats.org/officeDocument/2006/relationships/notesMaster" Target="/ppt/notesMasters/notesMaster1.xml" Id="Rf91411c4e4474a4e" /><Relationship Type="http://schemas.openxmlformats.org/officeDocument/2006/relationships/presProps" Target="/ppt/presProps.xml" Id="R7cc986262ae94c43" /><Relationship Type="http://schemas.openxmlformats.org/officeDocument/2006/relationships/tableStyles" Target="/ppt/tableStyles.xml" Id="Rf189f423e4d345a1" /><Relationship Type="http://schemas.openxmlformats.org/officeDocument/2006/relationships/slide" Target="/ppt/slides/slide1.xml" Id="R742d59820e234438" /><Relationship Type="http://schemas.openxmlformats.org/officeDocument/2006/relationships/slide" Target="/ppt/slides/slide2.xml" Id="R0e7f6870e8454d59" /><Relationship Type="http://schemas.openxmlformats.org/officeDocument/2006/relationships/slide" Target="/ppt/slides/slide3.xml" Id="R0f059efd464e47b7" /><Relationship Type="http://schemas.openxmlformats.org/officeDocument/2006/relationships/slide" Target="/ppt/slides/slide4.xml" Id="R25b98315023b4525" /><Relationship Type="http://schemas.openxmlformats.org/officeDocument/2006/relationships/slide" Target="/ppt/slides/slide5.xml" Id="R026d5af3786a487b" /><Relationship Type="http://schemas.openxmlformats.org/officeDocument/2006/relationships/slide" Target="/ppt/slides/slide6.xml" Id="R3e0d584b8c864779" /><Relationship Type="http://schemas.openxmlformats.org/officeDocument/2006/relationships/slide" Target="/ppt/slides/slide7.xml" Id="R3909773ca1194e8c" /><Relationship Type="http://schemas.openxmlformats.org/officeDocument/2006/relationships/slide" Target="/ppt/slides/slide8.xml" Id="R0b73defd0c234c56" /><Relationship Type="http://schemas.openxmlformats.org/officeDocument/2006/relationships/slide" Target="/ppt/slides/slide9.xml" Id="Radab840f8e8d4a4f" /><Relationship Type="http://schemas.openxmlformats.org/officeDocument/2006/relationships/slide" Target="/ppt/slides/slide10.xml" Id="Rc2ff23e0956943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df0c894d6f47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572d6cf12042bc" /><Relationship Type="http://schemas.openxmlformats.org/officeDocument/2006/relationships/notesMaster" Target="/ppt/notesMasters/notesMaster1.xml" Id="Rd8083940e7a441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167b4ea51a543d0" /><Relationship Type="http://schemas.openxmlformats.org/officeDocument/2006/relationships/notesMaster" Target="/ppt/notesMasters/notesMaster1.xml" Id="Ra8233a18a7df40d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06c8feb6b6f4313" /><Relationship Type="http://schemas.openxmlformats.org/officeDocument/2006/relationships/notesMaster" Target="/ppt/notesMasters/notesMaster1.xml" Id="Rd2955dbfff494a6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5127ed093794b73" /><Relationship Type="http://schemas.openxmlformats.org/officeDocument/2006/relationships/notesMaster" Target="/ppt/notesMasters/notesMaster1.xml" Id="Rab5fef26129840d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870dc43ce9b4ab9" /><Relationship Type="http://schemas.openxmlformats.org/officeDocument/2006/relationships/notesMaster" Target="/ppt/notesMasters/notesMaster1.xml" Id="R30b35c63a86d423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1892818589a4e33" /><Relationship Type="http://schemas.openxmlformats.org/officeDocument/2006/relationships/notesMaster" Target="/ppt/notesMasters/notesMaster1.xml" Id="R4ea87912db674ad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5d350f7aeda4013" /><Relationship Type="http://schemas.openxmlformats.org/officeDocument/2006/relationships/notesMaster" Target="/ppt/notesMasters/notesMaster1.xml" Id="R5e24f1fdb081473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78435f11b324bae" /><Relationship Type="http://schemas.openxmlformats.org/officeDocument/2006/relationships/notesMaster" Target="/ppt/notesMasters/notesMaster1.xml" Id="R15598749e7ba47e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57b77ae134a476b" /><Relationship Type="http://schemas.openxmlformats.org/officeDocument/2006/relationships/notesMaster" Target="/ppt/notesMasters/notesMaster1.xml" Id="R739122fe2474464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0f2c047adf04314" /><Relationship Type="http://schemas.openxmlformats.org/officeDocument/2006/relationships/notesMaster" Target="/ppt/notesMasters/notesMaster1.xml" Id="R076b7fc28ac041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 o projeto como uma solução integrada. Explique que esta demonstração concentra a etapa manual por ser o recorte mais previsível para validação inicial.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- /tmp/codex-remote-attachments/01a0b679-c818-7730-bc71-715f57a5b598/4B580560-C7A5-4CCD-89A7-34DD698F1D0B/1-IC_Thais-Novaes-Rodrigues-de-Lima_V07-Final.pdf, Figura 3</a:t>
            </a:r>
          </a:p>
          <a:p xmlns:a="http://schemas.openxmlformats.org/drawingml/2006/main">
            <a:r>
              <a:t>- /Users/arthurcosta/Documents/Trabalhos/IC-LibrasPython/docs/APRESENTACAO_SEGUNDA.md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Defina o problema sem prometer tradução completa. O MVP trabalha com vocabulário controlado e validação humana.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- /tmp/codex-remote-attachments/01a0b679-c818-7730-bc71-715f57a5b598/4B580560-C7A5-4CCD-89A7-34DD698F1D0B/1-IC_Thais-Novaes-Rodrigues-de-Lima_V07-Final.pdf</a:t>
            </a:r>
          </a:p>
          <a:p xmlns:a="http://schemas.openxmlformats.org/drawingml/2006/main">
            <a:r>
              <a:t>- /Users/arthurcosta/Documents/Trabalhos/IC-LibrasPython/docs/ESCOPO_MVP.md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que os dois trabalhos foram consolidados em uma única arquitetura. O módulo facial permanece no roadmap, sem ser apresentado como validado.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- /tmp/codex-remote-attachments/01a0b679-c818-7730-bc71-715f57a5b598/4B580560-C7A5-4CCD-89A7-34DD698F1D0B/1-IC_Thais-Novaes-Rodrigues-de-Lima_V07-Final.pdf</a:t>
            </a:r>
          </a:p>
          <a:p xmlns:a="http://schemas.openxmlformats.org/drawingml/2006/main">
            <a:r>
              <a:t>- /tmp/codex-remote-attachments/01a0b679-c818-7730-bc71-715f57a5b598/4B580560-C7A5-4CCD-89A7-34DD698F1D0B/2-IC_Pedro-Straub-Mantoan_Final.pdf</a:t>
            </a:r>
          </a:p>
          <a:p xmlns:a="http://schemas.openxmlformats.org/drawingml/2006/main">
            <a:r>
              <a:t>- /Users/arthurcosta/Documents/Trabalhos/IC-LibrasPython/docs/APRESENTACAO_SEGUNDA.md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Percorra o fluxo da esquerda para a direita. Destaque que a confirmação humana não é um improviso: ela faz parte do processo e cria rastreabilidade.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- /Users/arthurcosta/Documents/Trabalhos/IC-LibrasPython/README.md</a:t>
            </a:r>
          </a:p>
          <a:p xmlns:a="http://schemas.openxmlformats.org/drawingml/2006/main">
            <a:r>
              <a:t>- /Users/arthurcosta/Documents/Trabalhos/IC-LibrasPython/docs/ESCOPO_MVP.md</a:t>
            </a:r>
          </a:p>
          <a:p xmlns:a="http://schemas.openxmlformats.org/drawingml/2006/main">
            <a:r>
              <a:t>- /tmp/codex-remote-attachments/01a0b679-c818-7730-bc71-715f57a5b598/4B580560-C7A5-4CCD-89A7-34DD698F1D0B/1-IC_Thais-Novaes-Rodrigues-de-Lima_V07-Final.pdf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Mostre que a imagem original deixa de ser o único dado. O modelo trabalha com pontos estruturados, mantendo mão esquerda e direita separadas.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- /tmp/codex-remote-attachments/01a0b679-c818-7730-bc71-715f57a5b598/4B580560-C7A5-4CCD-89A7-34DD698F1D0B/1-IC_Thais-Novaes-Rodrigues-de-Lima_V07-Final.pdf, Figura 2</a:t>
            </a:r>
          </a:p>
          <a:p xmlns:a="http://schemas.openxmlformats.org/drawingml/2006/main">
            <a:r>
              <a:t>- /Users/arthurcosta/Documents/Trabalhos/IC-LibrasPython/docs/ESCOPO_MVP.md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que o pré-processamento torna as amostras comparáveis. A sequência final tem duração padronizada e metadados suficientes para auditoria.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- /tmp/codex-remote-attachments/01a0b679-c818-7730-bc71-715f57a5b598/4B580560-C7A5-4CCD-89A7-34DD698F1D0B/1-IC_Thais-Novaes-Rodrigues-de-Lima_V07-Final.pdf</a:t>
            </a:r>
          </a:p>
          <a:p xmlns:a="http://schemas.openxmlformats.org/drawingml/2006/main">
            <a:r>
              <a:t>- /Users/arthurcosta/Documents/Trabalhos/IC-LibrasPython/docs/ESCOPO_MVP.md</a:t>
            </a:r>
          </a:p>
          <a:p xmlns:a="http://schemas.openxmlformats.org/drawingml/2006/main">
            <a:r>
              <a:t>- /Users/arthurcosta/Documents/Trabalhos/IC-LibrasPython/README.md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Destaque que a validação por participante evita uma métrica artificialmente alta. Não apresente números de desempenho antes do experimento real.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- /tmp/codex-remote-attachments/01a0b679-c818-7730-bc71-715f57a5b598/4B580560-C7A5-4CCD-89A7-34DD698F1D0B/1-IC_Thais-Novaes-Rodrigues-de-Lima_V07-Final.pdf</a:t>
            </a:r>
          </a:p>
          <a:p xmlns:a="http://schemas.openxmlformats.org/drawingml/2006/main">
            <a:r>
              <a:t>- /Users/arthurcosta/Documents/Trabalhos/IC-LibrasPython/docs/ESCOPO_MVP.md</a:t>
            </a:r>
          </a:p>
          <a:p xmlns:a="http://schemas.openxmlformats.org/drawingml/2006/main">
            <a:r>
              <a:t>- /Users/arthurcosta/Documents/Trabalhos/IC-LibrasPython/docs/APRESENTACAO_SEGUNDA.md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Mostre que a opção de correção melhora a comunicação e também cria dados para analisar erros futuros. O banco registra a decisão humana e o contexto técnico.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- /Users/arthurcosta/Documents/Trabalhos/IC-LibrasPython/README.md</a:t>
            </a:r>
          </a:p>
          <a:p xmlns:a="http://schemas.openxmlformats.org/drawingml/2006/main">
            <a:r>
              <a:t>- /Users/arthurcosta/Documents/Trabalhos/IC-LibrasPython/docs/ESCOPO_MVP.md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 os 29 testes como validação de software, não como acurácia do reconhecimento. A câmera, o modelo e o uso com participantes ainda exigem o ambiente científico e dados reais.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- /Users/arthurcosta/Documents/Trabalhos/IC-LibrasPython/README.md</a:t>
            </a:r>
          </a:p>
          <a:p xmlns:a="http://schemas.openxmlformats.org/drawingml/2006/main">
            <a:r>
              <a:t>- /Users/arthurcosta/Documents/Trabalhos/IC-LibrasPython/docs/APRESENTACAO_SEGUNDA.md</a:t>
            </a:r>
          </a:p>
          <a:p xmlns:a="http://schemas.openxmlformats.org/drawingml/2006/main">
            <a:r>
              <a:t>- /Users/arthurcosta/Documents/Trabalhos/IC-LibrasPython/docs/ESCOPO_MVP.md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Siga este roteiro se o modelo ainda não estiver treinado. Não apresente a entrada manual como resultado da inteligência artificial. Finalize com o plano de coleta, treinamento e integração facial.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- /Users/arthurcosta/Documents/Trabalhos/IC-LibrasPython/docs/APRESENTACAO_SEGUNDA.md</a:t>
            </a:r>
          </a:p>
          <a:p xmlns:a="http://schemas.openxmlformats.org/drawingml/2006/main">
            <a:r>
              <a:t>- /Users/arthurcosta/Documents/Trabalhos/IC-LibrasPython/docs/ESCOPO_MVP.md</a:t>
            </a:r>
          </a:p>
          <a:p xmlns:a="http://schemas.openxmlformats.org/drawingml/2006/main">
            <a:r>
              <a:t>- /tmp/codex-remote-attachments/01a0b679-c818-7730-bc71-715f57a5b598/4B580560-C7A5-4CCD-89A7-34DD698F1D0B/2-IC_Pedro-Straub-Mantoan_Final.pdf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0bed97c41d49a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d6cbee060c411c" /><Relationship Type="http://schemas.openxmlformats.org/officeDocument/2006/relationships/slideLayout" Target="/ppt/slideLayouts/slideLayout1.xml" Id="R41c559a95173462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c559a95173462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d1cb97aab44219" /><Relationship Type="http://schemas.openxmlformats.org/officeDocument/2006/relationships/image" Target="/ppt/media/image.png" Id="Rb46dd6541ad74e04" /><Relationship Type="http://schemas.openxmlformats.org/officeDocument/2006/relationships/notesSlide" Target="/ppt/notesSlides/notesSlide1.xml" Id="R586e5108fa414a6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75ec96b55846de" /><Relationship Type="http://schemas.openxmlformats.org/officeDocument/2006/relationships/notesSlide" Target="/ppt/notesSlides/notesSlide2.xml" Id="Rb51ad861edc1490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40cc91beb34324" /><Relationship Type="http://schemas.openxmlformats.org/officeDocument/2006/relationships/notesSlide" Target="/ppt/notesSlides/notesSlide3.xml" Id="R40c2955d52174c5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5b3fc798ef49a5" /><Relationship Type="http://schemas.openxmlformats.org/officeDocument/2006/relationships/notesSlide" Target="/ppt/notesSlides/notesSlide4.xml" Id="Rbf1e7e923013472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934902315f4aa5" /><Relationship Type="http://schemas.openxmlformats.org/officeDocument/2006/relationships/image" Target="/ppt/media/image2.png" Id="Rb75395169a0448c8" /><Relationship Type="http://schemas.openxmlformats.org/officeDocument/2006/relationships/notesSlide" Target="/ppt/notesSlides/notesSlide5.xml" Id="R7d4094b9d6a348d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181a70e24b4d4d" /><Relationship Type="http://schemas.openxmlformats.org/officeDocument/2006/relationships/notesSlide" Target="/ppt/notesSlides/notesSlide6.xml" Id="R23483833219e435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3e21d3743e4ee7" /><Relationship Type="http://schemas.openxmlformats.org/officeDocument/2006/relationships/notesSlide" Target="/ppt/notesSlides/notesSlide7.xml" Id="Re14ba06ab1174ab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f4ac7dda204bfe" /><Relationship Type="http://schemas.openxmlformats.org/officeDocument/2006/relationships/notesSlide" Target="/ppt/notesSlides/notesSlide8.xml" Id="R2309ac2659ae43d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8273722ca4424c" /><Relationship Type="http://schemas.openxmlformats.org/officeDocument/2006/relationships/notesSlide" Target="/ppt/notesSlides/notesSlide9.xml" Id="R89ab441fed1b44d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3bac37ec9c4946" /><Relationship Type="http://schemas.openxmlformats.org/officeDocument/2006/relationships/notesSlide" Target="/ppt/notesSlides/notesSlide10.xml" Id="Rf6c95e60d7c5478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46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6dd6541ad74e04"/>
          <a:srcRect xmlns:a="http://schemas.openxmlformats.org/drawingml/2006/main" l="16308" t="0" r="1630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05600" y="0"/>
            <a:ext cx="54864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F79E72-4FEE-4E80-BA42-48A38643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533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2314D7-FA54-494A-BFBE-54203AB3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866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C95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28575" rIns="76200" bIns="28575" anchor="ctr">
            <a:normAutofit fontScale="9943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0A46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0A463A"/>
                </a:solidFill>
                <a:latin typeface="Helvetica Neue"/>
                <a:ea typeface="Helvetica Neue"/>
                <a:cs typeface="Helvetica Neue"/>
              </a:rPr>
              <a:t>PROJETO INTEGRADO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AEC23F-82C3-4AD0-B0F2-BA9C11DD4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5429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7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Reconhecimento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7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 sinais manuais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7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da Libras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AA7365-EF56-4A9E-8FFC-65941530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24300"/>
            <a:ext cx="50006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0" i="0">
                <a:solidFill>
                  <a:srgbClr val="D7EBE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D7EBE3"/>
                </a:solidFill>
                <a:latin typeface="Helvetica Neue"/>
                <a:ea typeface="Helvetica Neue"/>
                <a:cs typeface="Helvetica Neue"/>
              </a:rPr>
              <a:t>Visão computacional e aprendizado de máquina para apoiar uma comunicação mais acessível.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22B6C5-D8ED-4D06-8C0A-C9FDC0DA3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F4C9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F4C95D"/>
                </a:solidFill>
                <a:latin typeface="Helvetica Neue"/>
                <a:ea typeface="Helvetica Neue"/>
                <a:cs typeface="Helvetica Neue"/>
              </a:rPr>
              <a:t>FOCO DA APRESENTAÇÃO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4DA15B-A9DC-4A42-BADD-F8250A63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Abordagem manual de Thais Novaes</a:t>
            </a:r>
          </a:p>
        </p:txBody>
      </p:sp>
    </p:spTree>
    <p:extLst>
      <p:ext uri="{BB962C8B-B14F-4D97-AF65-F5344CB8AC3E}">
        <p14:creationId xmlns:p14="http://schemas.microsoft.com/office/powerpoint/2010/main" val="6136056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D43167-4F67-4031-9408-473D9467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0F6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0F6B57"/>
                </a:solidFill>
                <a:latin typeface="Helvetica Neue"/>
                <a:ea typeface="Helvetica Neue"/>
                <a:cs typeface="Helvetica Neue"/>
              </a:rPr>
              <a:t>LIBRAS • VISÃO COMPUTACIONAL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AFBC3E-86DB-48CD-B46F-77213D14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38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CONTEXTO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719BDE-83B5-4A88-ADA2-7C122D083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8D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E521AC-4FF8-46F1-BFA6-D411ED2FA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0E4328-B85A-46B6-BA6B-30D962AC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rPr>
              <a:t>Da barreira de comunicação a uma resposta útil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3446F9-C13A-457F-BEAB-83D8604A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97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O sistema transforma uma sequência visual em texto, mantendo a pessoa no controle da mensagem.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312A43-061A-4970-9398-90221AD9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717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B754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B7544C"/>
                </a:solidFill>
                <a:latin typeface="Helvetica Neue"/>
                <a:ea typeface="Helvetica Neue"/>
                <a:cs typeface="Helvetica Neue"/>
              </a:rPr>
              <a:t>PROBLEMA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67E616-B955-42A0-ADD0-8F59E3357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14600"/>
            <a:ext cx="4248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rPr>
              <a:t>A comunicação depende de um intérprete ou de um interlocutor que conheça Libras.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3992ED-B3AC-4888-9DF6-C440EDF10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90750"/>
            <a:ext cx="9525" cy="2971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8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3CDF1B-4432-446F-B4F3-CE7F2ACFC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1717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0F6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0F6B57"/>
                </a:solidFill>
                <a:latin typeface="Helvetica Neue"/>
                <a:ea typeface="Helvetica Neue"/>
                <a:cs typeface="Helvetica Neue"/>
              </a:rPr>
              <a:t>OBJETIVO DO MVP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6FC722-D35C-4917-A000-747A71621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514600"/>
            <a:ext cx="51435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rPr>
              <a:t>Capturar sinais manuais, identificar letras ou sinais conhecidos e permitir confirmação ou correção antes de registrar a mensagem.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2CFA38-0774-4FFB-A66E-5251E0625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495800"/>
            <a:ext cx="1352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EBE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28575" rIns="76200" bIns="28575" anchor="ctr">
            <a:normAutofit fontScale="9943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0A46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0A463A"/>
                </a:solidFill>
                <a:latin typeface="Helvetica Neue"/>
                <a:ea typeface="Helvetica Neue"/>
                <a:cs typeface="Helvetica Neue"/>
              </a:rPr>
              <a:t>CAPTURA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237BB4-A7E7-4253-A440-8DB0E39FC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95800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8F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28575" rIns="76200" bIns="28575" anchor="ctr">
            <a:normAutofit fontScale="9943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315C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15C7D"/>
                </a:solidFill>
                <a:latin typeface="Helvetica Neue"/>
                <a:ea typeface="Helvetica Neue"/>
                <a:cs typeface="Helvetica Neue"/>
              </a:rPr>
              <a:t>RECONHECIMENTO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2BBC84-D8FE-41FD-B4FF-FC47E9E45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495800"/>
            <a:ext cx="1962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E9B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28575" rIns="76200" bIns="28575" anchor="ctr">
            <a:normAutofit fontScale="9943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0A46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0A463A"/>
                </a:solidFill>
                <a:latin typeface="Helvetica Neue"/>
                <a:ea typeface="Helvetica Neue"/>
                <a:cs typeface="Helvetica Neue"/>
              </a:rPr>
              <a:t>VALIDAÇÃO HUMANA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C39EEB-F255-4C21-A0E5-2A6BC4CA4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Limite assumido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5E8DE7-5138-42FA-B5A7-F8EBBCB75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0"/>
            <a:ext cx="10077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O protótipo não traduz Libras completa. Ele valida um vocabulário controlado, começando por sinais manuais.</a:t>
            </a:r>
          </a:p>
        </p:txBody>
      </p:sp>
    </p:spTree>
    <p:extLst>
      <p:ext uri="{BB962C8B-B14F-4D97-AF65-F5344CB8AC3E}">
        <p14:creationId xmlns:p14="http://schemas.microsoft.com/office/powerpoint/2010/main" val="10328949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816DFD-D099-453A-A507-F99B4FDA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0F6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0F6B57"/>
                </a:solidFill>
                <a:latin typeface="Helvetica Neue"/>
                <a:ea typeface="Helvetica Neue"/>
                <a:cs typeface="Helvetica Neue"/>
              </a:rPr>
              <a:t>LIBRAS • VISÃO COMPUTACIONAL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C3CF0B-1AFF-4EB5-9D0A-348052E0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38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ESCOPO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87A4F6-2469-4BB6-A1BF-57D43626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8D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19E435-A531-495E-A831-830390043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EDA672-38ED-460C-93F6-49AB52C85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rPr>
              <a:t>Um projeto, duas etapas complementares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E478DF-8AD8-4B27-A01A-6BF557995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97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A arquitetura comporta mãos e face, mas a validação acontece em fases.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F73E87-DF76-4E8A-803F-607A95DC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0F6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0F6B57"/>
                </a:solidFill>
                <a:latin typeface="Helvetica Neue"/>
                <a:ea typeface="Helvetica Neue"/>
                <a:cs typeface="Helvetica Neue"/>
              </a:rPr>
              <a:t>AGORA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CB9FD6-18CA-40C3-BD95-F314C548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4914900" cy="270510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0F6B5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0F9AA5-509F-4FC3-AD94-A8D5172E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86050"/>
            <a:ext cx="685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 i="0">
                <a:solidFill>
                  <a:srgbClr val="0F6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 i="0">
                <a:solidFill>
                  <a:srgbClr val="0F6B57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AA61B6-A798-4EE8-8368-E4326E00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2415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rPr>
              <a:t>Sinais manuais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EBA679-1B17-4F84-A3FC-4EF637414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48050"/>
            <a:ext cx="40386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• 21 pontos por mão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• normalização e sequência temporal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• classificação com SVM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• confirmação e correção no front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61934C-C403-4E77-A568-C9E3C1574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383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315C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315C7D"/>
                </a:solidFill>
                <a:latin typeface="Helvetica Neue"/>
                <a:ea typeface="Helvetica Neue"/>
                <a:cs typeface="Helvetica Neue"/>
              </a:rPr>
              <a:t>PRÓXIMA ETAPA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D9D211-ED2F-4406-954D-383B9A1D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00300"/>
            <a:ext cx="4914900" cy="270510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DCE8F0"/>
          </a:solidFill>
          <a:ln xmlns:a="http://schemas.openxmlformats.org/drawingml/2006/main" w="9525">
            <a:solidFill>
              <a:srgbClr val="315C7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8241C2-B367-4B24-B719-E94988A4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86050"/>
            <a:ext cx="685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 i="0">
                <a:solidFill>
                  <a:srgbClr val="315C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 i="0">
                <a:solidFill>
                  <a:srgbClr val="315C7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393E67-4A7E-4F9E-B1EF-545890C7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72415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 i="0">
                <a:solidFill>
                  <a:srgbClr val="315C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 i="0">
                <a:solidFill>
                  <a:srgbClr val="315C7D"/>
                </a:solidFill>
                <a:latin typeface="Helvetica Neue"/>
                <a:ea typeface="Helvetica Neue"/>
                <a:cs typeface="Helvetica Neue"/>
              </a:rPr>
              <a:t>Expressões faciais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D79564-C470-4F66-A715-A18A4591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448050"/>
            <a:ext cx="40386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 i="0">
                <a:solidFill>
                  <a:srgbClr val="315C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315C7D"/>
                </a:solidFill>
                <a:latin typeface="Helvetica Neue"/>
                <a:ea typeface="Helvetica Neue"/>
                <a:cs typeface="Helvetica Neue"/>
              </a:rPr>
              <a:t>• pontos de referência da face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 i="0">
                <a:solidFill>
                  <a:srgbClr val="315C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315C7D"/>
                </a:solidFill>
                <a:latin typeface="Helvetica Neue"/>
                <a:ea typeface="Helvetica Neue"/>
                <a:cs typeface="Helvetica Neue"/>
              </a:rPr>
              <a:t>• sinais não manuais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 i="0">
                <a:solidFill>
                  <a:srgbClr val="315C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315C7D"/>
                </a:solidFill>
                <a:latin typeface="Helvetica Neue"/>
                <a:ea typeface="Helvetica Neue"/>
                <a:cs typeface="Helvetica Neue"/>
              </a:rPr>
              <a:t>• contexto da comunicação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 i="0">
                <a:solidFill>
                  <a:srgbClr val="315C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315C7D"/>
                </a:solidFill>
                <a:latin typeface="Helvetica Neue"/>
                <a:ea typeface="Helvetica Neue"/>
                <a:cs typeface="Helvetica Neue"/>
              </a:rPr>
              <a:t>• fusão posterior com o módulo manual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6C4F2B-D50D-41D2-AEF6-57DC8AAB8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486400"/>
            <a:ext cx="3200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C95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28575" rIns="76200" bIns="28575" anchor="ctr">
            <a:normAutofit fontScale="9943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0A46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0A463A"/>
                </a:solidFill>
                <a:latin typeface="Helvetica Neue"/>
                <a:ea typeface="Helvetica Neue"/>
                <a:cs typeface="Helvetica Neue"/>
              </a:rPr>
              <a:t>APRESENTAÇÃO DE SEGUNDA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7B0E77-6047-41CD-B46B-22B769E7B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94360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rPr>
              <a:t>Prioridade: etapa 01, abordagem da Thais</a:t>
            </a:r>
          </a:p>
        </p:txBody>
      </p:sp>
    </p:spTree>
    <p:extLst>
      <p:ext uri="{BB962C8B-B14F-4D97-AF65-F5344CB8AC3E}">
        <p14:creationId xmlns:p14="http://schemas.microsoft.com/office/powerpoint/2010/main" val="16405977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2414D97-EF88-4DDB-8019-4B633B00E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0F6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0F6B57"/>
                </a:solidFill>
                <a:latin typeface="Helvetica Neue"/>
                <a:ea typeface="Helvetica Neue"/>
                <a:cs typeface="Helvetica Neue"/>
              </a:rPr>
              <a:t>LIBRAS • VISÃO COMPUTACIONAL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85C799-DE6D-45DB-9753-8C7D2CFB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38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ARQUITETURA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E78834-76BA-4E9E-A65F-E0109141B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8D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0A3BC5-7A19-46D1-825C-2D9235778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F3A0DF-0C01-401A-A044-859A2150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rPr>
              <a:t>Do gesto ao registro: o fluxo completo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963F1C-6729-41A0-AF77-5CBADDAD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97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Cada etapa tem uma responsabilidade clara e pode ser validada separadamente.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0A7F16-66E8-4E40-9F53-9896372C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38400"/>
            <a:ext cx="1466850" cy="22669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D8D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7E12DB-1CF8-4B69-8CA4-12081EAE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38400"/>
            <a:ext cx="1466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B5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EC809C-64E5-4B03-90B7-9407093D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432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 i="0">
                <a:solidFill>
                  <a:srgbClr val="0F6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i="0">
                <a:solidFill>
                  <a:srgbClr val="0F6B57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92B51E-F381-48A2-B999-78A5CF0AE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1123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rPr>
              <a:t>Webcam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6D077E-0637-4A34-8B33-8B96E0256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7650"/>
            <a:ext cx="1123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sequência visual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2043C9-4809-4CA4-B709-9D9817DE7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31432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247932-64D1-4295-ADD0-2345C1741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38400"/>
            <a:ext cx="1466850" cy="22669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D8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41FF10-C0F3-467F-AD85-8CF91E2F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38400"/>
            <a:ext cx="1466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B5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902232-0F58-43A5-90DF-EE56E3C0B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7432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 i="0">
                <a:solidFill>
                  <a:srgbClr val="0F6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i="0">
                <a:solidFill>
                  <a:srgbClr val="0F6B57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92DEB2-FB82-4904-983C-77A75DD03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333750"/>
            <a:ext cx="1123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rPr>
              <a:t>MediaPipe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461F20-389E-4D33-9FF0-7A63CE11E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057650"/>
            <a:ext cx="1123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mãos e face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372591-7721-4A63-9876-600091B42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1432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02EB1F-D35C-476F-90A7-B2AD946E9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38400"/>
            <a:ext cx="1466850" cy="22669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D8D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50FC54-2007-4F6E-9F4A-AF4E78D2D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38400"/>
            <a:ext cx="1466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7D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097ADD-9E99-4002-994E-92C510A56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7432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 i="0">
                <a:solidFill>
                  <a:srgbClr val="315C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i="0">
                <a:solidFill>
                  <a:srgbClr val="315C7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8506D1-EA97-4A51-A614-CD7234380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333750"/>
            <a:ext cx="1123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rPr>
              <a:t>Landmarks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735679-B80C-48B2-B9B4-964121E34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057650"/>
            <a:ext cx="1123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coordenadas 3D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585390-CDB1-440D-85A6-B759AF74E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1432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F04FAC-E941-42DB-A843-5F01E5B0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38400"/>
            <a:ext cx="1466850" cy="22669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D8D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5773E2-0D71-49FB-8DA6-C1E5904A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38400"/>
            <a:ext cx="1466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7D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99477D-4E25-453C-94FF-0A2890DC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7432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 i="0">
                <a:solidFill>
                  <a:srgbClr val="315C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i="0">
                <a:solidFill>
                  <a:srgbClr val="315C7D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E4C3F9-98A4-420C-AE61-097AAE47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333750"/>
            <a:ext cx="1123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rPr>
              <a:t>Normalização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F6EDF1-7016-48D7-8F75-EEF190662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057650"/>
            <a:ext cx="1123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escala e alinhamento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D25CE6-F0B0-4B45-B452-6CE036206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1432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E5634E-D97B-44B1-BF98-38356090E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438400"/>
            <a:ext cx="1466850" cy="22669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D8D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80B0E8-D769-4DAE-95A7-3522A053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438400"/>
            <a:ext cx="1466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59E2C7B-D52F-4F4C-B18E-27010170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7432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 i="0">
                <a:solidFill>
                  <a:srgbClr val="F4C9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i="0">
                <a:solidFill>
                  <a:srgbClr val="F4C95D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3F25F9-93D8-40CE-A26F-00011B208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333750"/>
            <a:ext cx="1123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rPr>
              <a:t>30 quadros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5FB229E-DDDE-4DE5-99D7-158BABDE3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057650"/>
            <a:ext cx="1123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sequência padrão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C224276-C1A3-4371-AE29-1A63C6B05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1432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182E9C2-34A5-48DF-8DCA-BC16AF008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38400"/>
            <a:ext cx="1466850" cy="22669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D8D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6833CD0-3088-4013-954E-5B0C49CCF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38400"/>
            <a:ext cx="1466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544C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D61F5E8-FCFB-4FE3-A5CB-76581BE16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432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 i="0">
                <a:solidFill>
                  <a:srgbClr val="B754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i="0">
                <a:solidFill>
                  <a:srgbClr val="B7544C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7335B56-7957-419C-9F13-D3B0C74E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33750"/>
            <a:ext cx="1123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rPr>
              <a:t>SVM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8E1E66F-681E-4EEF-9480-245E97882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57650"/>
            <a:ext cx="1123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classe + confiança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45113BD-63FA-47F2-9A2B-ACD14B1EC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1432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40E4767-7E9E-41C5-93DF-C007E8DC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438400"/>
            <a:ext cx="1466850" cy="22669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D8D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6A26824-D58C-4B96-A598-4DBF00F01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438400"/>
            <a:ext cx="1466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B57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A654749-AAF4-4A95-8C49-9621E8D2D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7432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 i="0">
                <a:solidFill>
                  <a:srgbClr val="0F6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i="0">
                <a:solidFill>
                  <a:srgbClr val="0F6B57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851F9F0-4844-4DC8-B076-0816DC06C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333750"/>
            <a:ext cx="1123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rPr>
              <a:t>Front + DB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D839FFB-BB55-4406-BDCC-9CD074ABE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057650"/>
            <a:ext cx="1123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confirmar ou corrigir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FB5DF97-5A05-4414-B111-99DC9F100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728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A463A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182C871-5AB7-435F-92F8-83F395D0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00675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F4C9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F4C95D"/>
                </a:solidFill>
                <a:latin typeface="Helvetica Neue"/>
                <a:ea typeface="Helvetica Neue"/>
                <a:cs typeface="Helvetica Neue"/>
              </a:rPr>
              <a:t>Princípio de projeto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F2547AF-8195-4DBA-9B63-80B8611F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353050"/>
            <a:ext cx="805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89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predição sugere. A pessoa confirma ou corrige antes de a mensagem ser registrada.</a:t>
            </a:r>
          </a:p>
        </p:txBody>
      </p:sp>
    </p:spTree>
    <p:extLst>
      <p:ext uri="{BB962C8B-B14F-4D97-AF65-F5344CB8AC3E}">
        <p14:creationId xmlns:p14="http://schemas.microsoft.com/office/powerpoint/2010/main" val="25164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DA4ECC-06E2-4BE8-AFCD-739E03D85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0F6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0F6B57"/>
                </a:solidFill>
                <a:latin typeface="Helvetica Neue"/>
                <a:ea typeface="Helvetica Neue"/>
                <a:cs typeface="Helvetica Neue"/>
              </a:rPr>
              <a:t>LIBRAS • VISÃO COMPUTACIONAL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9F9602-ACC0-4E87-9986-CC7ED4CA1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38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VISÃO COMPUTACIONAL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F4305B-807E-4121-852A-10706C49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8D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6B02F8-A060-4B4A-A386-BC7AAA4F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283A81-E328-4B65-8E0C-1C4E20B86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rPr>
              <a:t>A mão vira uma estrutura mensurável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847F5F-21EA-49E1-86C0-2F558D79E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97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O MediaPipe representa cada mão por 21 pontos de referência.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5395169a0448c8"/>
          <a:stretch xmlns:a="http://schemas.openxmlformats.org/drawingml/2006/main"/>
        </p:blipFill>
        <p:spPr>
          <a:xfrm xmlns:a="http://schemas.openxmlformats.org/drawingml/2006/main">
            <a:off x="609600" y="2267990"/>
            <a:ext cx="6267450" cy="2931621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502E55-ADB6-4802-BB46-856B30FD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38350"/>
            <a:ext cx="171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5400" b="1" i="0">
                <a:solidFill>
                  <a:srgbClr val="0F6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 i="0">
                <a:solidFill>
                  <a:srgbClr val="0F6B57"/>
                </a:solidFill>
                <a:latin typeface="Helvetica Neue"/>
                <a:ea typeface="Helvetica Neue"/>
                <a:cs typeface="Helvetica Neue"/>
              </a:rPr>
              <a:t>21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A8E238-DD6B-42E7-B0B0-0C90A3EC2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194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rPr>
              <a:t>pontos por mão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F4CC05-73C2-4DEB-8FE6-4EFFC124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71850"/>
            <a:ext cx="3238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8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047D76-4E01-4488-9232-2F9AA4E75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67100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315C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315C7D"/>
                </a:solidFill>
                <a:latin typeface="Helvetica Neue"/>
                <a:ea typeface="Helvetica Neue"/>
                <a:cs typeface="Helvetica Neue"/>
              </a:rPr>
              <a:t>x, y, z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C447CD-3C48-41D4-B90F-E76AE72D2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467100"/>
            <a:ext cx="1562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posição espacial de cada ponto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17524D-C332-4BF7-A7BF-F5B01AF3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14800"/>
            <a:ext cx="3238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8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D68F67-26BF-46EB-8A51-A54D4CF86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10050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315C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315C7D"/>
                </a:solidFill>
                <a:latin typeface="Helvetica Neue"/>
                <a:ea typeface="Helvetica Neue"/>
                <a:cs typeface="Helvetica Neue"/>
              </a:rPr>
              <a:t>esquerda / direita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446C0D-EDEB-4433-85E3-5956D8B83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210050"/>
            <a:ext cx="1562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canais preservados separadamente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99347C-E9C3-4483-A601-0BD0307E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57750"/>
            <a:ext cx="3238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8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6AA7A4-579E-4178-BCA9-D66289B6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953000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315C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315C7D"/>
                </a:solidFill>
                <a:latin typeface="Helvetica Neue"/>
                <a:ea typeface="Helvetica Neue"/>
                <a:cs typeface="Helvetica Neue"/>
              </a:rPr>
              <a:t>quadro a quadro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4AB64E-F31B-461B-B0AD-57E6CFE08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953000"/>
            <a:ext cx="1562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movimento convertido em sequência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5AB062-D1C6-4615-87A1-D3F2C803B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1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1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Fonte visual: trabalho de Thais Novaes, Figura 2.</a:t>
            </a:r>
          </a:p>
        </p:txBody>
      </p:sp>
    </p:spTree>
    <p:extLst>
      <p:ext uri="{BB962C8B-B14F-4D97-AF65-F5344CB8AC3E}">
        <p14:creationId xmlns:p14="http://schemas.microsoft.com/office/powerpoint/2010/main" val="3565631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521F98D-07AE-4C08-BC04-392C96BA8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0F6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0F6B57"/>
                </a:solidFill>
                <a:latin typeface="Helvetica Neue"/>
                <a:ea typeface="Helvetica Neue"/>
                <a:cs typeface="Helvetica Neue"/>
              </a:rPr>
              <a:t>LIBRAS • VISÃO COMPUTACIONAL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6C7FDD-FC28-453A-BC11-38511269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38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DADOS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D36139-48EB-432C-A9D5-17A676936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8D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95E9C2-0647-49DB-AC62-21D1C114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C2FE9E-8720-4A7C-A951-291EA1C0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rPr>
              <a:t>Preparar o dado reduz variações que não são o sinal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2435D0-4876-4C1F-A55C-629DB8041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97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O objetivo é comparar o gesto, não a distância da câmera ou o tamanho da mão.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9A259E-C4DA-4938-9F25-8974D00B3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30505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B5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190DD5-20BA-4B65-A6D1-6924318AD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514600"/>
            <a:ext cx="895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A502CD-50EA-4693-BE5E-2B0C74956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rPr>
              <a:t>Centralizar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2A9369-A3D3-41CD-8DB5-C7ADD680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94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pulso como origem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B2E7E5-9208-4FF3-9C55-27EB0C4F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56222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96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BBEF1F-C646-4A43-B570-1BFB48EF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30505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C7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0D1505-4039-4234-911C-08ED1A166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514600"/>
            <a:ext cx="895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5DDFC9-0377-4A2D-B574-D9AE19A32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524250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rPr>
              <a:t>Escalonar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DB4002-32A4-404E-A974-60774007E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981450"/>
            <a:ext cx="194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tamanho relativo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20B719-17B1-4875-88FC-0D97CEB35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6222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96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4280E2-9C64-41F1-8253-B44FF82A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230505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568771-65BF-401F-BC76-E80E0ABA0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2514600"/>
            <a:ext cx="895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 i="0">
                <a:solidFill>
                  <a:srgbClr val="0A46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0A463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2CAA0C-62BF-4669-AE88-ACC985A0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524250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rPr>
              <a:t>Alinhar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F97E79-ECCE-4DE3-B6FD-64E56A4F0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981450"/>
            <a:ext cx="194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orientação consistente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C6019F-56B6-4819-A226-B2AF2C048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6222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96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EB5EC4-C332-4905-9E8B-DCC6C665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30505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544C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836A73-A18C-426C-93E6-E82E1186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514600"/>
            <a:ext cx="895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C6043B-82FF-4BDF-A977-CDE617FC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524250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rPr>
              <a:t>Suavizar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17022D-B3FE-455C-B743-AFA23C39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981450"/>
            <a:ext cx="194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menos ruído entre quadros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62AE51-6AD0-4867-B11B-6666141AD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56222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96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E32D73-A862-47D1-8015-006ABD70A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30505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B57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0FB306-0FEE-4516-8316-7958E4989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514600"/>
            <a:ext cx="895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257FF7-71A6-4C48-889C-5B9C50D7F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524250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rPr>
              <a:t>Reamostrar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D344E0-7E68-4648-96E8-7879F1A60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981450"/>
            <a:ext cx="194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30 quadros por amostra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B17675-0537-4B2E-86FE-53538382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9728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F3EE"/>
          </a:solidFill>
          <a:ln xmlns:a="http://schemas.openxmlformats.org/drawingml/2006/main" w="9525">
            <a:solidFill>
              <a:srgbClr val="0F6B5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72C74A-E028-4A51-B9DB-9BA7EF650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14950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0A46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0A463A"/>
                </a:solidFill>
                <a:latin typeface="Helvetica Neue"/>
                <a:ea typeface="Helvetica Neue"/>
                <a:cs typeface="Helvetica Neue"/>
              </a:rPr>
              <a:t>Contrato da amostra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B190A1-E608-44D1-927B-EA3C37EE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276850"/>
            <a:ext cx="752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0A46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0A463A"/>
                </a:solidFill>
                <a:latin typeface="Helvetica Neue"/>
                <a:ea typeface="Helvetica Neue"/>
                <a:cs typeface="Helvetica Neue"/>
              </a:rPr>
              <a:t>sequência comprimida + rótulo + participante + metadados de coleta</a:t>
            </a:r>
          </a:p>
        </p:txBody>
      </p:sp>
    </p:spTree>
    <p:extLst>
      <p:ext uri="{BB962C8B-B14F-4D97-AF65-F5344CB8AC3E}">
        <p14:creationId xmlns:p14="http://schemas.microsoft.com/office/powerpoint/2010/main" val="18208703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585038-9996-47A9-AE1E-C18965569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0F6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0F6B57"/>
                </a:solidFill>
                <a:latin typeface="Helvetica Neue"/>
                <a:ea typeface="Helvetica Neue"/>
                <a:cs typeface="Helvetica Neue"/>
              </a:rPr>
              <a:t>LIBRAS • VISÃO COMPUTACIONAL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125A4C-0F9C-4FA0-8EDA-06112611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38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APRENDIZADO DE MÁQUINA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C77161-5238-4F6A-9366-03F109AF0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8D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5D2E52-79A8-4B0A-9A52-8511F6974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7FECD5-3FAE-40D2-A547-53CFD9F02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rPr>
              <a:t>Treinar sem misturar as pessoas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19B68B-7E24-4345-AF88-39983025D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97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A divisão deve impedir que a mesma pessoa apareça em treino e teste.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96B62B-A220-4AF2-A33C-69D9570A7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0F6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0F6B57"/>
                </a:solidFill>
                <a:latin typeface="Helvetica Neue"/>
                <a:ea typeface="Helvetica Neue"/>
                <a:cs typeface="Helvetica Neue"/>
              </a:rPr>
              <a:t>DIVISÃO PROPOSTA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F4169D-7DA0-4252-AFCC-2144A7EEF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72771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D8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9C6D02-AB52-4419-BBD7-0C3AA5C8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4762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F6B5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B60747-83F2-49E0-9FBD-A469EBCE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724150"/>
            <a:ext cx="10287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C95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C95782-299D-4BF4-9F46-765B8B52D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724150"/>
            <a:ext cx="10287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315C7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D59E2C-EE1D-4855-833C-F1CBF9E59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70% treino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BC065E-F242-48D6-9B39-515D3B2AE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87655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 i="0">
                <a:solidFill>
                  <a:srgbClr val="0A46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0A463A"/>
                </a:solidFill>
                <a:latin typeface="Helvetica Neue"/>
                <a:ea typeface="Helvetica Neue"/>
                <a:cs typeface="Helvetica Neue"/>
              </a:rPr>
              <a:t>15% val.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4219B5-B6A2-4719-9526-72225789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7655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15% teste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243107-AA17-4DA4-A031-AF4F75C09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0"/>
            <a:ext cx="7258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B754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B7544C"/>
                </a:solidFill>
                <a:latin typeface="Helvetica Neue"/>
                <a:ea typeface="Helvetica Neue"/>
                <a:cs typeface="Helvetica Neue"/>
              </a:rPr>
              <a:t>Regra: participantes diferentes em cada conjunto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EE05CE-1231-4A68-BA88-1126DA9DB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95500"/>
            <a:ext cx="3143250" cy="1924050"/>
          </a:xfrm>
          <a:prstGeom xmlns:a="http://schemas.openxmlformats.org/drawingml/2006/main" prst="roundRect">
            <a:avLst>
              <a:gd name="adj" fmla="val 7921"/>
            </a:avLst>
          </a:prstGeom>
          <a:solidFill xmlns:a="http://schemas.openxmlformats.org/drawingml/2006/main">
            <a:srgbClr val="0A463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A34FC7-499E-4F35-B031-B94BE8396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400300"/>
            <a:ext cx="2552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F4C9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F4C95D"/>
                </a:solidFill>
                <a:latin typeface="Helvetica Neue"/>
                <a:ea typeface="Helvetica Neue"/>
                <a:cs typeface="Helvetica Neue"/>
              </a:rPr>
              <a:t>MODELO BASELINE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FED46D-57E0-49CA-ABA2-6663EAA33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781300"/>
            <a:ext cx="2552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1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SVM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B4746A-C6B5-4A17-896D-02910E3F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42900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D7EBE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D7EBE3"/>
                </a:solidFill>
                <a:latin typeface="Helvetica Neue"/>
                <a:ea typeface="Helvetica Neue"/>
                <a:cs typeface="Helvetica Neue"/>
              </a:rPr>
              <a:t>simples, local e adequado ao primeiro experimento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B07446-16C7-41C8-9B17-2AC9A7E2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52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315C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15C7D"/>
                </a:solidFill>
                <a:latin typeface="Helvetica Neue"/>
                <a:ea typeface="Helvetica Neue"/>
                <a:cs typeface="Helvetica Neue"/>
              </a:rPr>
              <a:t>COMO AVALIAR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87C588-0D02-4336-B950-4D08CF8C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10150"/>
            <a:ext cx="1847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8F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28575" rIns="76200" bIns="28575" anchor="ctr">
            <a:normAutofit fontScale="9943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315C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15C7D"/>
                </a:solidFill>
                <a:latin typeface="Helvetica Neue"/>
                <a:ea typeface="Helvetica Neue"/>
                <a:cs typeface="Helvetica Neue"/>
              </a:rPr>
              <a:t>Acurácia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DAC9CB-17D0-4FBD-BEA4-4509A67B4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010150"/>
            <a:ext cx="1847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EBE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28575" rIns="76200" bIns="28575" anchor="ctr">
            <a:normAutofit fontScale="9943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0A46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0A463A"/>
                </a:solidFill>
                <a:latin typeface="Helvetica Neue"/>
                <a:ea typeface="Helvetica Neue"/>
                <a:cs typeface="Helvetica Neue"/>
              </a:rPr>
              <a:t>Precisão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4558AA-FA7D-4BF5-A8DF-CC724EBDE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010150"/>
            <a:ext cx="1847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8F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28575" rIns="76200" bIns="28575" anchor="ctr">
            <a:normAutofit fontScale="9943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315C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15C7D"/>
                </a:solidFill>
                <a:latin typeface="Helvetica Neue"/>
                <a:ea typeface="Helvetica Neue"/>
                <a:cs typeface="Helvetica Neue"/>
              </a:rPr>
              <a:t>Recall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550E71-F297-4DCA-B731-4499BC97B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010150"/>
            <a:ext cx="1847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EBE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28575" rIns="76200" bIns="28575" anchor="ctr">
            <a:normAutofit fontScale="9943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0A46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0A463A"/>
                </a:solidFill>
                <a:latin typeface="Helvetica Neue"/>
                <a:ea typeface="Helvetica Neue"/>
                <a:cs typeface="Helvetica Neue"/>
              </a:rPr>
              <a:t>F1-score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220389-D4C6-42F6-8D9E-75C92731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010150"/>
            <a:ext cx="2324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8F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28575" rIns="76200" bIns="28575" anchor="ctr">
            <a:normAutofit fontScale="9943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315C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15C7D"/>
                </a:solidFill>
                <a:latin typeface="Helvetica Neue"/>
                <a:ea typeface="Helvetica Neue"/>
                <a:cs typeface="Helvetica Neue"/>
              </a:rPr>
              <a:t>Matriz de confusão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1DB35F-07AA-4C5D-92EE-04C27321C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959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Nenhuma métrica é apresentada antes de existir um conjunto real e separado por participante.</a:t>
            </a:r>
          </a:p>
        </p:txBody>
      </p:sp>
    </p:spTree>
    <p:extLst>
      <p:ext uri="{BB962C8B-B14F-4D97-AF65-F5344CB8AC3E}">
        <p14:creationId xmlns:p14="http://schemas.microsoft.com/office/powerpoint/2010/main" val="21107279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A65D4E-51EE-4CC9-B29F-60D911892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0F6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0F6B57"/>
                </a:solidFill>
                <a:latin typeface="Helvetica Neue"/>
                <a:ea typeface="Helvetica Neue"/>
                <a:cs typeface="Helvetica Neue"/>
              </a:rPr>
              <a:t>LIBRAS • VISÃO COMPUTACIONAL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AF70B8-825A-4AB0-BE43-20DA3B846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38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EXPERIÊNCIA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B0BA60-732E-4889-A253-4E74FC9ED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8D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5C16E6-EE67-4847-96BD-22754DC7E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B7DE33-51BF-402C-AE15-9120A472B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rPr>
              <a:t>A interface mantém a decisão com o usuário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342D1C-6866-4A1A-914F-C78147C1E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97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O reconhecimento é uma sugestão, não um registro automático irreversível.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86360C-951B-4600-94AD-58BCB5A62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2381250" cy="2076450"/>
          </a:xfrm>
          <a:prstGeom xmlns:a="http://schemas.openxmlformats.org/drawingml/2006/main" prst="roundRect">
            <a:avLst>
              <a:gd name="adj" fmla="val 7339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0F6B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20E300-76C1-4D9B-A47A-D7D36C7C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B5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73C6FC-A0BB-4C8C-8C8A-885DEB10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6E0598-FFE2-4244-8DB7-058AB7D83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1847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rPr>
              <a:t>Câmera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788410-D88A-40CE-9CFA-B5F5E439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52850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captura a sequência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84235A-CB11-465E-B97A-4F3A91FCA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124200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A37E43-6C0B-46A1-8D1B-04ACCE088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24100"/>
            <a:ext cx="2381250" cy="2076450"/>
          </a:xfrm>
          <a:prstGeom xmlns:a="http://schemas.openxmlformats.org/drawingml/2006/main" prst="roundRect">
            <a:avLst>
              <a:gd name="adj" fmla="val 7339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315C7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89D0C4-E92C-4FFE-9FA7-B409064BC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71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C7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02C8C0-1E29-4D29-84C5-EE27F7461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686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3079C4-F477-43A7-BE1F-02B91057C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276600"/>
            <a:ext cx="1847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rPr>
              <a:t>Predição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FFAF21-599E-4F17-A57B-990E74DC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752850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letra + confiança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D89BB7-6707-4E77-B001-52790D9CA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124200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430F36-1D43-4093-B07E-5ED586BD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24100"/>
            <a:ext cx="2381250" cy="2076450"/>
          </a:xfrm>
          <a:prstGeom xmlns:a="http://schemas.openxmlformats.org/drawingml/2006/main" prst="roundRect">
            <a:avLst>
              <a:gd name="adj" fmla="val 7339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F4C95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012286-D7CC-4E04-86E2-EF9EE3701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71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AB9256-7220-41B1-B7A6-55A39C41D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86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0A46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A463A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B6B6AB-FB09-4520-B4DD-5ED0B5733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76600"/>
            <a:ext cx="1847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rPr>
              <a:t>Revisão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51AA35-163E-42CE-97E8-A3A2C30B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52850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confirmar ou corrigir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D3E227-E67E-4DF7-A066-05C43CC50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24200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B918F6-470E-4D91-9C37-DA8E941E1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24100"/>
            <a:ext cx="2381250" cy="2076450"/>
          </a:xfrm>
          <a:prstGeom xmlns:a="http://schemas.openxmlformats.org/drawingml/2006/main" prst="roundRect">
            <a:avLst>
              <a:gd name="adj" fmla="val 7339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B7544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EACAFF-8E03-4716-BD22-C98E7D362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571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544C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EAB875-65E9-4666-9077-B19247C7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86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5A767C-FACC-4270-A5BA-141A4B0FB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76600"/>
            <a:ext cx="1847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rPr>
              <a:t>Mensagem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0EC990-A588-4973-9E2D-371D3514F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752850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compor e registrar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4E46A5-7D03-438F-A287-0780729A3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09728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9E9B8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4B31DA-040C-4DF5-A549-7C1074E6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38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0A46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0A463A"/>
                </a:solidFill>
                <a:latin typeface="Helvetica Neue"/>
                <a:ea typeface="Helvetica Neue"/>
                <a:cs typeface="Helvetica Neue"/>
              </a:rPr>
              <a:t>Rastreabilidade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1336CC1-3BE2-4C6B-9F04-E35419D19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2006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3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0A46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0A463A"/>
                </a:solidFill>
                <a:latin typeface="Helvetica Neue"/>
                <a:ea typeface="Helvetica Neue"/>
                <a:cs typeface="Helvetica Neue"/>
              </a:rPr>
              <a:t>o banco preserva a predição original, a correção aplicada e a versão do modelo</a:t>
            </a:r>
          </a:p>
        </p:txBody>
      </p:sp>
    </p:spTree>
    <p:extLst>
      <p:ext uri="{BB962C8B-B14F-4D97-AF65-F5344CB8AC3E}">
        <p14:creationId xmlns:p14="http://schemas.microsoft.com/office/powerpoint/2010/main" val="15472989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5E86D4-3BAC-4BDF-B4EF-8D6717A2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0F6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0F6B57"/>
                </a:solidFill>
                <a:latin typeface="Helvetica Neue"/>
                <a:ea typeface="Helvetica Neue"/>
                <a:cs typeface="Helvetica Neue"/>
              </a:rPr>
              <a:t>LIBRAS • VISÃO COMPUTACIONAL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7C42C8-75E7-4377-98CC-F1CE1B675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38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EVIDÊNCIAS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E93A7C-5A57-4298-A9FC-E0F2A8653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8D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EF3FB5-CC0C-436D-81F5-5766193FA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4A2F01-16B0-422B-9D57-3563E50E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rPr>
              <a:t>O que já está validado e o que ainda falta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21ED53-BEA8-4BAE-B6BC-386354F8F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97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Separar implementação de evidência real torna a apresentação tecnicamente honesta.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29B5FC-BF2C-4727-85B8-91DA343A4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219700" cy="36195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8F3EE"/>
          </a:solidFill>
          <a:ln xmlns:a="http://schemas.openxmlformats.org/drawingml/2006/main" w="9525">
            <a:solidFill>
              <a:srgbClr val="0F6B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A9956F-727F-4BB1-AFEF-5FA162DC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0F6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0F6B57"/>
                </a:solidFill>
                <a:latin typeface="Helvetica Neue"/>
                <a:ea typeface="Helvetica Neue"/>
                <a:cs typeface="Helvetica Neue"/>
              </a:rPr>
              <a:t>VALIDADO LOCALMENTE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1359C0-D93D-4F0E-AEC8-52A26DB8F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114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62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800" b="1" i="0">
                <a:solidFill>
                  <a:srgbClr val="0A46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 i="0">
                <a:solidFill>
                  <a:srgbClr val="0A463A"/>
                </a:solidFill>
                <a:latin typeface="Helvetica Neue"/>
                <a:ea typeface="Helvetica Neue"/>
                <a:cs typeface="Helvetica Neue"/>
              </a:rPr>
              <a:t>29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8382D4-7D2E-47BD-80C1-29F8AAA0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0289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0A46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A463A"/>
                </a:solidFill>
                <a:latin typeface="Helvetica Neue"/>
                <a:ea typeface="Helvetica Neue"/>
                <a:cs typeface="Helvetica Neue"/>
              </a:rPr>
              <a:t>testes automatizados aprovados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52D054-6A1A-4265-8735-80F7E1D0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14750"/>
            <a:ext cx="43243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425" b="0" i="0">
                <a:solidFill>
                  <a:srgbClr val="0A46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0A463A"/>
                </a:solidFill>
                <a:latin typeface="Helvetica Neue"/>
                <a:ea typeface="Helvetica Neue"/>
                <a:cs typeface="Helvetica Neue"/>
              </a:rPr>
              <a:t>✓ API, banco e interface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425" b="0" i="0">
                <a:solidFill>
                  <a:srgbClr val="0A46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0A463A"/>
                </a:solidFill>
                <a:latin typeface="Helvetica Neue"/>
                <a:ea typeface="Helvetica Neue"/>
                <a:cs typeface="Helvetica Neue"/>
              </a:rPr>
              <a:t>✓ contrato das amostras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425" b="0" i="0">
                <a:solidFill>
                  <a:srgbClr val="0A46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0A463A"/>
                </a:solidFill>
                <a:latin typeface="Helvetica Neue"/>
                <a:ea typeface="Helvetica Neue"/>
                <a:cs typeface="Helvetica Neue"/>
              </a:rPr>
              <a:t>✓ normalização e sequência de 30 quadros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425" b="0" i="0">
                <a:solidFill>
                  <a:srgbClr val="0A46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0A463A"/>
                </a:solidFill>
                <a:latin typeface="Helvetica Neue"/>
                <a:ea typeface="Helvetica Neue"/>
                <a:cs typeface="Helvetica Neue"/>
              </a:rPr>
              <a:t>✓ coletor sincronizado de mãos e face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425" b="0" i="0">
                <a:solidFill>
                  <a:srgbClr val="0A46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0A463A"/>
                </a:solidFill>
                <a:latin typeface="Helvetica Neue"/>
                <a:ea typeface="Helvetica Neue"/>
                <a:cs typeface="Helvetica Neue"/>
              </a:rPr>
              <a:t>✓ script de treinamento e métricas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068CBF-C574-4295-BD31-DBAAA140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95500"/>
            <a:ext cx="5219700" cy="36195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3DEDB"/>
          </a:solidFill>
          <a:ln xmlns:a="http://schemas.openxmlformats.org/drawingml/2006/main" w="9525">
            <a:solidFill>
              <a:srgbClr val="B7544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B70FFB-58D7-47EE-B37E-F9A2FAA1E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003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B754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B7544C"/>
                </a:solidFill>
                <a:latin typeface="Helvetica Neue"/>
                <a:ea typeface="Helvetica Neue"/>
                <a:cs typeface="Helvetica Neue"/>
              </a:rPr>
              <a:t>EVIDÊNCIA PENDENTE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7CA05A-A8D0-4E70-8608-D6C44A5B8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00350"/>
            <a:ext cx="1924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050" b="1" i="0">
                <a:solidFill>
                  <a:srgbClr val="B754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 i="0">
                <a:solidFill>
                  <a:srgbClr val="B7544C"/>
                </a:solidFill>
                <a:latin typeface="Helvetica Neue"/>
                <a:ea typeface="Helvetica Neue"/>
                <a:cs typeface="Helvetica Neue"/>
              </a:rPr>
              <a:t>REAL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806739-3305-4FB7-B4B6-B5F24F50B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28950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39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B754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B7544C"/>
                </a:solidFill>
                <a:latin typeface="Helvetica Neue"/>
                <a:ea typeface="Helvetica Neue"/>
                <a:cs typeface="Helvetica Neue"/>
              </a:rPr>
              <a:t>coleta e uso com participantes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F35CE4-45B3-4202-BC70-C92BC515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714750"/>
            <a:ext cx="43243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425" b="0" i="0">
                <a:solidFill>
                  <a:srgbClr val="B754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B7544C"/>
                </a:solidFill>
                <a:latin typeface="Helvetica Neue"/>
                <a:ea typeface="Helvetica Neue"/>
                <a:cs typeface="Helvetica Neue"/>
              </a:rPr>
              <a:t>○ ambiente científico em Python 3.11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425" b="0" i="0">
                <a:solidFill>
                  <a:srgbClr val="B754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B7544C"/>
                </a:solidFill>
                <a:latin typeface="Helvetica Neue"/>
                <a:ea typeface="Helvetica Neue"/>
                <a:cs typeface="Helvetica Neue"/>
              </a:rPr>
              <a:t>○ base com pelo menos 3 participantes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425" b="0" i="0">
                <a:solidFill>
                  <a:srgbClr val="B754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B7544C"/>
                </a:solidFill>
                <a:latin typeface="Helvetica Neue"/>
                <a:ea typeface="Helvetica Neue"/>
                <a:cs typeface="Helvetica Neue"/>
              </a:rPr>
              <a:t>○ modelo manual treinado e versionado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425" b="0" i="0">
                <a:solidFill>
                  <a:srgbClr val="B754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B7544C"/>
                </a:solidFill>
                <a:latin typeface="Helvetica Neue"/>
                <a:ea typeface="Helvetica Neue"/>
                <a:cs typeface="Helvetica Neue"/>
              </a:rPr>
              <a:t>○ métricas em conjunto de teste separado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425" b="0" i="0">
                <a:solidFill>
                  <a:srgbClr val="B754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B7544C"/>
                </a:solidFill>
                <a:latin typeface="Helvetica Neue"/>
                <a:ea typeface="Helvetica Neue"/>
                <a:cs typeface="Helvetica Neue"/>
              </a:rPr>
              <a:t>○ validação com usuários da comunidade surda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B1392B-A84A-4007-91AF-F7A26BBBD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626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Status do modelo na interface: indisponível até existir um artefato treinado válido.</a:t>
            </a:r>
          </a:p>
        </p:txBody>
      </p:sp>
    </p:spTree>
    <p:extLst>
      <p:ext uri="{BB962C8B-B14F-4D97-AF65-F5344CB8AC3E}">
        <p14:creationId xmlns:p14="http://schemas.microsoft.com/office/powerpoint/2010/main" val="156675941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3F721BC-6F14-4DEA-A9D7-3196028D2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0F6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0F6B57"/>
                </a:solidFill>
                <a:latin typeface="Helvetica Neue"/>
                <a:ea typeface="Helvetica Neue"/>
                <a:cs typeface="Helvetica Neue"/>
              </a:rPr>
              <a:t>LIBRAS • VISÃO COMPUTACIONAL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1FAD72-42DF-43AD-8DE9-092DDCC7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38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APRESENTAÇÃO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CB9495-BCF2-4D50-906E-ABBD4404E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8D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0E074C-E843-4FA0-8F7D-2C2904B06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198139-5567-4CBA-A6E4-E87236F5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rPr>
              <a:t>Demonstração segura para segunda-feira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A21722-FFAF-4C7B-B336-9D02AB8C2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97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Mesmo sem modelo treinado, o fluxo pode ser apresentado sem simular uma predição inexistente.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8609D6-FEC8-4371-9363-F02A37CAA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B5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088CEF-4065-48EA-8EB9-6029FCCE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47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FADA79-FE12-4333-A728-50D2FD18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336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rPr>
              <a:t>Abrir a interface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644A2D-5F10-4AFC-8002-5529367EC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5265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mostrar câmera e área da mensagem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B40D81-55DC-4F3E-9418-2C1803142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765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B5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4CF414-2F2D-4831-A06F-E0FA2DB1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71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2FB295-BED6-457F-9748-A67FD8117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575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rPr>
              <a:t>Exibir o estado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21C72E-AE07-445D-BAA7-3A21ADD32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7655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modelo indisponível de forma explícita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14C630-6BCA-4867-91D9-AF0BE12D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004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B5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F9C701-4477-481C-A373-F6D2BBFF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95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BBE0FD-A769-4FD6-A7FD-7024FCD7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5814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rPr>
              <a:t>Compor manualmente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6E781F-62D2-4AEB-917E-13C1E75C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60045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demonstrar confirmação e correção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BB5780-2774-4311-9EB4-5B8D5F474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243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C7D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005FB2-F71D-454E-A85A-567C449B9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19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3001E2-7C65-40BA-87B7-0FD19E105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3053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rPr>
              <a:t>Mostrar a coleta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A9336E-29F3-4FA0-9E22-B9598E2DC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32435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estrutura dos dados e metadados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8610DA-0E61-473A-95AF-BDF665381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48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C7D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2A94D7-0A35-4723-A576-C6CC35096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66DBF5-3E5D-440C-97B8-D673F0C37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292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7201E"/>
                </a:solidFill>
                <a:latin typeface="Helvetica Neue"/>
                <a:ea typeface="Helvetica Neue"/>
                <a:cs typeface="Helvetica Neue"/>
              </a:rPr>
              <a:t>Fechar com o experimento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8549DA-00B0-4D8A-9A17-CB99E448B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04825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60706B"/>
                </a:solidFill>
                <a:latin typeface="Helvetica Neue"/>
                <a:ea typeface="Helvetica Neue"/>
                <a:cs typeface="Helvetica Neue"/>
              </a:rPr>
              <a:t>coletar, treinar e medir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91B624-9E3D-4E24-AA5C-816CCCEB2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33600"/>
            <a:ext cx="3257550" cy="3714750"/>
          </a:xfrm>
          <a:prstGeom xmlns:a="http://schemas.openxmlformats.org/drawingml/2006/main" prst="roundRect">
            <a:avLst>
              <a:gd name="adj" fmla="val 4678"/>
            </a:avLst>
          </a:prstGeom>
          <a:solidFill xmlns:a="http://schemas.openxmlformats.org/drawingml/2006/main">
            <a:srgbClr val="0A463A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3C43BE-312B-4F2B-A67E-266DF6089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4574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F4C9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F4C95D"/>
                </a:solidFill>
                <a:latin typeface="Helvetica Neue"/>
                <a:ea typeface="Helvetica Neue"/>
                <a:cs typeface="Helvetica Neue"/>
              </a:rPr>
              <a:t>PRÓXIMOS PASSOS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4CBF70-199C-43CA-ABBF-816E9F02A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9146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Coletar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3B9AA4-954A-4078-954A-D1376DE9A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314700"/>
            <a:ext cx="2533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D7EBE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D7EBE3"/>
                </a:solidFill>
                <a:latin typeface="Helvetica Neue"/>
                <a:ea typeface="Helvetica Neue"/>
                <a:cs typeface="Helvetica Neue"/>
              </a:rPr>
              <a:t>→ treinar o módulo manual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53A0B8-0940-444F-A731-E95D25973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8290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Medir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632ADD-C3E3-429E-877E-282F55419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229100"/>
            <a:ext cx="2533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D7EBE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D7EBE3"/>
                </a:solidFill>
                <a:latin typeface="Helvetica Neue"/>
                <a:ea typeface="Helvetica Neue"/>
                <a:cs typeface="Helvetica Neue"/>
              </a:rPr>
              <a:t>→ validar por participante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5A2101D-06C8-4807-8E1B-FAC4D7A55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7434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Integrar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E3915B-F979-4ACA-8003-A0073D15C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143500"/>
            <a:ext cx="2533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D7EBE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D7EBE3"/>
                </a:solidFill>
                <a:latin typeface="Helvetica Neue"/>
                <a:ea typeface="Helvetica Neue"/>
                <a:cs typeface="Helvetica Neue"/>
              </a:rPr>
              <a:t>→ incorporar sinais faciais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4F345EE-6B49-497E-8D40-22926FC5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29325"/>
            <a:ext cx="733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0A46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A463A"/>
                </a:solidFill>
                <a:latin typeface="Helvetica Neue"/>
                <a:ea typeface="Helvetica Neue"/>
                <a:cs typeface="Helvetica Neue"/>
              </a:rPr>
              <a:t>Resultado esperado: uma comunicação assistida, corrigível e evolutiva.</a:t>
            </a:r>
          </a:p>
        </p:txBody>
      </p:sp>
    </p:spTree>
    <p:extLst>
      <p:ext uri="{BB962C8B-B14F-4D97-AF65-F5344CB8AC3E}">
        <p14:creationId xmlns:p14="http://schemas.microsoft.com/office/powerpoint/2010/main" val="21097584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2026-09-19T17:27:25.1390000Z</dcterms:created>
  <dcterms:modified xsi:type="dcterms:W3CDTF">2026-09-19T17:27:25.1390000Z</dcterms:modified>
</coreProperties>
</file>